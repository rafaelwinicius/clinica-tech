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438912"/>
            <a:ext cx="2423160" cy="310896"/>
          </a:xfrm>
          <a:prstGeom prst="roundRect">
            <a:avLst/>
          </a:prstGeom>
          <a:solidFill>
            <a:srgbClr val="E7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7492"/>
            <a:ext cx="21488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65862"/>
                </a:solidFill>
                <a:latin typeface="Aptos"/>
              </a:rPr>
              <a:t>UX/UI + ACESSIBILIDADE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" y="9601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272934"/>
                </a:solidFill>
                <a:latin typeface="Aptos Display"/>
              </a:rPr>
              <a:t>Experiência simples para diferentes perfis de usuário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27632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565862"/>
                </a:solidFill>
                <a:latin typeface="Aptos"/>
              </a:rPr>
              <a:t>A área transforma requisitos em fluxos e interfaces compreensíveis, reduzindo esforço, ambiguidade e barreiras de uso.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148840"/>
            <a:ext cx="2743200" cy="3520440"/>
          </a:xfrm>
          <a:prstGeom prst="roundRect">
            <a:avLst/>
          </a:prstGeom>
          <a:solidFill>
            <a:srgbClr val="292B35"/>
          </a:solidFill>
          <a:ln w="12700">
            <a:solidFill>
              <a:srgbClr val="29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95728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Aptos Display"/>
              </a:rPr>
              <a:t>UX/UI + Acessibilidade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035808"/>
            <a:ext cx="2194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20" b="0" i="0">
                <a:solidFill>
                  <a:srgbClr val="FFFFFF"/>
                </a:solidFill>
                <a:latin typeface="Aptos"/>
              </a:rPr>
              <a:t>Organiza a experiência, a hierarquia das informações e os fluxos de interação para que cada usuário consiga concluir suas tarefas com clareza.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69663"/>
            <a:ext cx="21945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 i="1">
                <a:solidFill>
                  <a:srgbClr val="D6D7DD"/>
                </a:solidFill>
                <a:latin typeface="Aptos"/>
              </a:rPr>
              <a:t>Foco: facilidade de uso, compreensão e inclusão.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892040"/>
            <a:ext cx="2194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Aptos"/>
              </a:rPr>
              <a:t>Usuários considerados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5248656"/>
            <a:ext cx="868680" cy="384048"/>
          </a:xfrm>
          <a:prstGeom prst="roundRect">
            <a:avLst/>
          </a:prstGeom>
          <a:solidFill>
            <a:srgbClr val="DDF4EE"/>
          </a:solidFill>
          <a:ln w="12700">
            <a:solidFill>
              <a:srgbClr val="13B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349240"/>
            <a:ext cx="86868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 i="0">
                <a:solidFill>
                  <a:srgbClr val="13B597"/>
                </a:solidFill>
                <a:latin typeface="Aptos"/>
              </a:rPr>
              <a:t>Paciente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56231" y="5248656"/>
            <a:ext cx="100584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C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56231" y="5349240"/>
            <a:ext cx="100584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565862"/>
                </a:solidFill>
                <a:latin typeface="Aptos"/>
              </a:rPr>
              <a:t>Secretária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5669280"/>
            <a:ext cx="100584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C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769864"/>
            <a:ext cx="100584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565862"/>
                </a:solidFill>
                <a:latin typeface="Aptos"/>
              </a:rPr>
              <a:t>Profissional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993392" y="5669280"/>
            <a:ext cx="86868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C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93392" y="5769864"/>
            <a:ext cx="86868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565862"/>
                </a:solidFill>
                <a:latin typeface="Aptos"/>
              </a:rPr>
              <a:t>Gestão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39" y="21488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50" b="0" i="0">
                <a:solidFill>
                  <a:srgbClr val="272934"/>
                </a:solidFill>
                <a:latin typeface="Aptos Display"/>
              </a:rPr>
              <a:t>Fluxo principal do paciente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49039" y="2487168"/>
            <a:ext cx="7406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10" b="0" i="0">
                <a:solidFill>
                  <a:srgbClr val="565862"/>
                </a:solidFill>
                <a:latin typeface="Aptos"/>
              </a:rPr>
              <a:t>Sem login no site: o paciente consulta informações e inicia o agendamento pelo WhatsApp.</a:t>
            </a:r>
          </a:p>
        </p:txBody>
      </p:sp>
      <p:sp>
        <p:nvSpPr>
          <p:cNvPr id="21" name="Oval 20"/>
          <p:cNvSpPr/>
          <p:nvPr/>
        </p:nvSpPr>
        <p:spPr>
          <a:xfrm>
            <a:off x="3767328" y="3063240"/>
            <a:ext cx="530352" cy="530352"/>
          </a:xfrm>
          <a:prstGeom prst="ellipse">
            <a:avLst/>
          </a:prstGeom>
          <a:solidFill>
            <a:srgbClr val="FFFFFF"/>
          </a:solidFill>
          <a:ln w="16510">
            <a:solidFill>
              <a:srgbClr val="CAC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67328" y="3227832"/>
            <a:ext cx="53035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565862"/>
                </a:solidFill>
                <a:latin typeface="Aptos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38144" y="3813048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0" i="0">
                <a:solidFill>
                  <a:srgbClr val="272934"/>
                </a:solidFill>
                <a:latin typeface="Aptos Display"/>
              </a:rPr>
              <a:t>Site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4197096"/>
            <a:ext cx="129844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30" b="0" i="0">
                <a:solidFill>
                  <a:srgbClr val="565862"/>
                </a:solidFill>
                <a:latin typeface="Aptos"/>
              </a:rPr>
              <a:t>informações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297680" y="3328416"/>
            <a:ext cx="950976" cy="0"/>
          </a:xfrm>
          <a:prstGeom prst="line">
            <a:avLst/>
          </a:prstGeom>
          <a:ln w="16510">
            <a:solidFill>
              <a:srgbClr val="CACB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5248656" y="3063240"/>
            <a:ext cx="530352" cy="530352"/>
          </a:xfrm>
          <a:prstGeom prst="ellipse">
            <a:avLst/>
          </a:prstGeom>
          <a:solidFill>
            <a:srgbClr val="FFFFFF"/>
          </a:solidFill>
          <a:ln w="16510">
            <a:solidFill>
              <a:srgbClr val="CAC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48656" y="3227832"/>
            <a:ext cx="53035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565862"/>
                </a:solidFill>
                <a:latin typeface="Aptos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19472" y="3813048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0" i="0">
                <a:solidFill>
                  <a:srgbClr val="272934"/>
                </a:solidFill>
                <a:latin typeface="Aptos Display"/>
              </a:rPr>
              <a:t>WhatsApp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64608" y="4197096"/>
            <a:ext cx="129844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30" b="0" i="0">
                <a:solidFill>
                  <a:srgbClr val="565862"/>
                </a:solidFill>
                <a:latin typeface="Aptos"/>
              </a:rPr>
              <a:t>inicia fluxo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779008" y="3328416"/>
            <a:ext cx="950976" cy="0"/>
          </a:xfrm>
          <a:prstGeom prst="line">
            <a:avLst/>
          </a:prstGeom>
          <a:ln w="16510">
            <a:solidFill>
              <a:srgbClr val="CACB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6729984" y="3063240"/>
            <a:ext cx="530352" cy="530352"/>
          </a:xfrm>
          <a:prstGeom prst="ellipse">
            <a:avLst/>
          </a:prstGeom>
          <a:solidFill>
            <a:srgbClr val="FFFFFF"/>
          </a:solidFill>
          <a:ln w="16510">
            <a:solidFill>
              <a:srgbClr val="CAC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29984" y="3227832"/>
            <a:ext cx="53035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565862"/>
                </a:solidFill>
                <a:latin typeface="Aptos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3813048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0" i="0">
                <a:solidFill>
                  <a:srgbClr val="272934"/>
                </a:solidFill>
                <a:latin typeface="Aptos Display"/>
              </a:rPr>
              <a:t>Identifica-se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45936" y="4197096"/>
            <a:ext cx="129844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30" b="0" i="0">
                <a:solidFill>
                  <a:srgbClr val="565862"/>
                </a:solidFill>
                <a:latin typeface="Aptos"/>
              </a:rPr>
              <a:t>dados mínimos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7260336" y="3328416"/>
            <a:ext cx="950976" cy="0"/>
          </a:xfrm>
          <a:prstGeom prst="line">
            <a:avLst/>
          </a:prstGeom>
          <a:ln w="16510">
            <a:solidFill>
              <a:srgbClr val="CACB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8211312" y="3063240"/>
            <a:ext cx="530352" cy="530352"/>
          </a:xfrm>
          <a:prstGeom prst="ellipse">
            <a:avLst/>
          </a:prstGeom>
          <a:solidFill>
            <a:srgbClr val="FFFFFF"/>
          </a:solidFill>
          <a:ln w="16510">
            <a:solidFill>
              <a:srgbClr val="CAC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11312" y="3227832"/>
            <a:ext cx="53035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565862"/>
                </a:solidFill>
                <a:latin typeface="Aptos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82128" y="3813048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0" i="0">
                <a:solidFill>
                  <a:srgbClr val="272934"/>
                </a:solidFill>
                <a:latin typeface="Aptos Display"/>
              </a:rPr>
              <a:t>Escolhe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27264" y="4197096"/>
            <a:ext cx="129844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30" b="0" i="0">
                <a:solidFill>
                  <a:srgbClr val="565862"/>
                </a:solidFill>
                <a:latin typeface="Aptos"/>
              </a:rPr>
              <a:t>especialidade
+ unidade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8741664" y="3328416"/>
            <a:ext cx="950976" cy="0"/>
          </a:xfrm>
          <a:prstGeom prst="line">
            <a:avLst/>
          </a:prstGeom>
          <a:ln w="16510">
            <a:solidFill>
              <a:srgbClr val="CACB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Oval 40"/>
          <p:cNvSpPr/>
          <p:nvPr/>
        </p:nvSpPr>
        <p:spPr>
          <a:xfrm>
            <a:off x="9692640" y="3063240"/>
            <a:ext cx="530352" cy="530352"/>
          </a:xfrm>
          <a:prstGeom prst="ellipse">
            <a:avLst/>
          </a:prstGeom>
          <a:solidFill>
            <a:srgbClr val="FFFFFF"/>
          </a:solidFill>
          <a:ln w="16510">
            <a:solidFill>
              <a:srgbClr val="CAC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692640" y="3227832"/>
            <a:ext cx="53035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565862"/>
                </a:solidFill>
                <a:latin typeface="Aptos"/>
              </a:rPr>
              <a:t>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63456" y="3813048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0" i="0">
                <a:solidFill>
                  <a:srgbClr val="272934"/>
                </a:solidFill>
                <a:latin typeface="Aptos Display"/>
              </a:rPr>
              <a:t>Confirma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08592" y="4197096"/>
            <a:ext cx="129844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30" b="0" i="0">
                <a:solidFill>
                  <a:srgbClr val="565862"/>
                </a:solidFill>
                <a:latin typeface="Aptos"/>
              </a:rPr>
              <a:t>data e hora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10222992" y="3328416"/>
            <a:ext cx="768096" cy="0"/>
          </a:xfrm>
          <a:prstGeom prst="line">
            <a:avLst/>
          </a:prstGeom>
          <a:ln w="16510">
            <a:solidFill>
              <a:srgbClr val="CACB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10991088" y="3063240"/>
            <a:ext cx="530352" cy="530352"/>
          </a:xfrm>
          <a:prstGeom prst="ellipse">
            <a:avLst/>
          </a:prstGeom>
          <a:solidFill>
            <a:srgbClr val="DDF4EE"/>
          </a:solidFill>
          <a:ln w="16510">
            <a:solidFill>
              <a:srgbClr val="13B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991088" y="3227832"/>
            <a:ext cx="53035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13B597"/>
                </a:solidFill>
                <a:latin typeface="Aptos"/>
              </a:rPr>
              <a:t>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661904" y="3813048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0" i="0">
                <a:solidFill>
                  <a:srgbClr val="272934"/>
                </a:solidFill>
                <a:latin typeface="Aptos Display"/>
              </a:rPr>
              <a:t>Lembrete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607040" y="4197096"/>
            <a:ext cx="129844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30" b="0" i="0">
                <a:solidFill>
                  <a:srgbClr val="565862"/>
                </a:solidFill>
                <a:latin typeface="Aptos"/>
              </a:rPr>
              <a:t>24h antes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749039" y="4818888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272934"/>
                </a:solidFill>
                <a:latin typeface="Aptos Display"/>
              </a:rPr>
              <a:t>Fluxo operacional da secretária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776472" y="5257800"/>
            <a:ext cx="20574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C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913632" y="5385816"/>
            <a:ext cx="29260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1" i="0">
                <a:solidFill>
                  <a:srgbClr val="13B597"/>
                </a:solidFill>
                <a:latin typeface="Aptos"/>
              </a:rPr>
              <a:t>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251960" y="5321808"/>
            <a:ext cx="14630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30" b="0" i="0">
                <a:solidFill>
                  <a:srgbClr val="272934"/>
                </a:solidFill>
                <a:latin typeface="Aptos"/>
              </a:rPr>
              <a:t>Localiza ou cadastra paciente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888736" y="5440680"/>
            <a:ext cx="228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565862"/>
                </a:solidFill>
                <a:latin typeface="Aptos"/>
              </a:rPr>
              <a:t>→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199631" y="5257800"/>
            <a:ext cx="20574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C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336792" y="5385816"/>
            <a:ext cx="29260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1" i="0">
                <a:solidFill>
                  <a:srgbClr val="13B597"/>
                </a:solidFill>
                <a:latin typeface="Aptos"/>
              </a:rPr>
              <a:t>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675119" y="5321808"/>
            <a:ext cx="14630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30" b="0" i="0">
                <a:solidFill>
                  <a:srgbClr val="272934"/>
                </a:solidFill>
                <a:latin typeface="Aptos"/>
              </a:rPr>
              <a:t>Consulta agendas disponíveis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311896" y="5440680"/>
            <a:ext cx="228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565862"/>
                </a:solidFill>
                <a:latin typeface="Aptos"/>
              </a:rPr>
              <a:t>→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622792" y="5257800"/>
            <a:ext cx="20574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C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759952" y="5385816"/>
            <a:ext cx="29260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1" i="0">
                <a:solidFill>
                  <a:srgbClr val="13B597"/>
                </a:solidFill>
                <a:latin typeface="Aptos"/>
              </a:rPr>
              <a:t>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098280" y="5321808"/>
            <a:ext cx="14630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30" b="0" i="0">
                <a:solidFill>
                  <a:srgbClr val="272934"/>
                </a:solidFill>
                <a:latin typeface="Aptos"/>
              </a:rPr>
              <a:t>Agenda, cancela ou remarca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621792" y="6501384"/>
            <a:ext cx="11146536" cy="0"/>
          </a:xfrm>
          <a:prstGeom prst="line">
            <a:avLst/>
          </a:prstGeom>
          <a:ln w="10160">
            <a:solidFill>
              <a:srgbClr val="CACB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630936" y="6547104"/>
            <a:ext cx="36576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787984"/>
                </a:solidFill>
                <a:latin typeface="Aptos"/>
              </a:rPr>
              <a:t>Clínica-Tech · Projeto de Perfil Profissional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567160" y="6547104"/>
            <a:ext cx="20116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787984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438912"/>
            <a:ext cx="2423160" cy="310896"/>
          </a:xfrm>
          <a:prstGeom prst="roundRect">
            <a:avLst/>
          </a:prstGeom>
          <a:solidFill>
            <a:srgbClr val="E7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7492"/>
            <a:ext cx="21488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65862"/>
                </a:solidFill>
                <a:latin typeface="Aptos"/>
              </a:rPr>
              <a:t>INTERFACE E ACESSIBILIDADE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" y="9601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0" i="0">
                <a:solidFill>
                  <a:srgbClr val="272934"/>
                </a:solidFill>
                <a:latin typeface="Aptos Display"/>
              </a:rPr>
              <a:t>Acessibilidade faz parte da interface desde a concepção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27632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20" b="0" i="0">
                <a:solidFill>
                  <a:srgbClr val="565862"/>
                </a:solidFill>
                <a:latin typeface="Aptos"/>
              </a:rPr>
              <a:t>A proposta prioriza legibilidade, linguagem clara, uso por teclado, responsividade e informações que não dependam apenas de cor.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10312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50" b="0" i="0">
                <a:solidFill>
                  <a:srgbClr val="272934"/>
                </a:solidFill>
                <a:latin typeface="Aptos Display"/>
              </a:rPr>
              <a:t>Wireframes conceituais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2505456"/>
            <a:ext cx="27432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C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670048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40" b="1" i="0">
                <a:solidFill>
                  <a:srgbClr val="565862"/>
                </a:solidFill>
                <a:latin typeface="Aptos"/>
              </a:rPr>
              <a:t>SITE PÚBLICO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2990088"/>
            <a:ext cx="1783080" cy="73152"/>
          </a:xfrm>
          <a:prstGeom prst="roundRect">
            <a:avLst/>
          </a:prstGeom>
          <a:solidFill>
            <a:srgbClr val="CAC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6112" y="3218688"/>
            <a:ext cx="1325880" cy="73152"/>
          </a:xfrm>
          <a:prstGeom prst="roundRect">
            <a:avLst/>
          </a:prstGeom>
          <a:solidFill>
            <a:srgbClr val="CAC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340864" y="2779776"/>
            <a:ext cx="896112" cy="658368"/>
          </a:xfrm>
          <a:prstGeom prst="roundRect">
            <a:avLst/>
          </a:prstGeom>
          <a:solidFill>
            <a:srgbClr val="DDF4EE"/>
          </a:solidFill>
          <a:ln w="12700">
            <a:solidFill>
              <a:srgbClr val="13B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14016" y="2916936"/>
            <a:ext cx="74980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13B597"/>
                </a:solidFill>
                <a:latin typeface="Aptos"/>
              </a:rPr>
              <a:t>Agendar
WhatsApp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4041648"/>
            <a:ext cx="27432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C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4206240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0" b="1" i="0">
                <a:solidFill>
                  <a:srgbClr val="565862"/>
                </a:solidFill>
                <a:latin typeface="Aptos"/>
              </a:rPr>
              <a:t>AMBIENTE ADMINISTRATIVO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6112" y="4590288"/>
            <a:ext cx="237744" cy="201168"/>
          </a:xfrm>
          <a:prstGeom prst="rect">
            <a:avLst/>
          </a:prstGeom>
          <a:solidFill>
            <a:srgbClr val="F1F1F5"/>
          </a:solidFill>
          <a:ln w="6350">
            <a:solidFill>
              <a:srgbClr val="CAC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243584" y="4590288"/>
            <a:ext cx="237744" cy="201168"/>
          </a:xfrm>
          <a:prstGeom prst="rect">
            <a:avLst/>
          </a:prstGeom>
          <a:solidFill>
            <a:srgbClr val="F1F1F5"/>
          </a:solidFill>
          <a:ln w="6350">
            <a:solidFill>
              <a:srgbClr val="CAC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591056" y="4590288"/>
            <a:ext cx="237744" cy="201168"/>
          </a:xfrm>
          <a:prstGeom prst="rect">
            <a:avLst/>
          </a:prstGeom>
          <a:solidFill>
            <a:srgbClr val="DDF4EE"/>
          </a:solidFill>
          <a:ln w="6350">
            <a:solidFill>
              <a:srgbClr val="CAC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938528" y="4590288"/>
            <a:ext cx="237744" cy="201168"/>
          </a:xfrm>
          <a:prstGeom prst="rect">
            <a:avLst/>
          </a:prstGeom>
          <a:solidFill>
            <a:srgbClr val="F1F1F5"/>
          </a:solidFill>
          <a:ln w="6350">
            <a:solidFill>
              <a:srgbClr val="CAC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96112" y="4901183"/>
            <a:ext cx="237744" cy="201168"/>
          </a:xfrm>
          <a:prstGeom prst="rect">
            <a:avLst/>
          </a:prstGeom>
          <a:solidFill>
            <a:srgbClr val="F1F1F5"/>
          </a:solidFill>
          <a:ln w="6350">
            <a:solidFill>
              <a:srgbClr val="CAC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43584" y="4901183"/>
            <a:ext cx="237744" cy="201168"/>
          </a:xfrm>
          <a:prstGeom prst="rect">
            <a:avLst/>
          </a:prstGeom>
          <a:solidFill>
            <a:srgbClr val="F1F1F5"/>
          </a:solidFill>
          <a:ln w="6350">
            <a:solidFill>
              <a:srgbClr val="CAC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591056" y="4901183"/>
            <a:ext cx="237744" cy="201168"/>
          </a:xfrm>
          <a:prstGeom prst="rect">
            <a:avLst/>
          </a:prstGeom>
          <a:solidFill>
            <a:srgbClr val="F1F1F5"/>
          </a:solidFill>
          <a:ln w="6350">
            <a:solidFill>
              <a:srgbClr val="CAC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938528" y="4901183"/>
            <a:ext cx="237744" cy="201168"/>
          </a:xfrm>
          <a:prstGeom prst="rect">
            <a:avLst/>
          </a:prstGeom>
          <a:solidFill>
            <a:srgbClr val="F1F1F5"/>
          </a:solidFill>
          <a:ln w="6350">
            <a:solidFill>
              <a:srgbClr val="CAC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359152" y="4507992"/>
            <a:ext cx="786384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40" b="1" i="0">
                <a:solidFill>
                  <a:srgbClr val="272934"/>
                </a:solidFill>
                <a:latin typeface="Aptos"/>
              </a:rPr>
              <a:t>Agenda
por perfil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22191" y="210312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50" b="0" i="0">
                <a:solidFill>
                  <a:srgbClr val="272934"/>
                </a:solidFill>
                <a:latin typeface="Aptos Display"/>
              </a:rPr>
              <a:t>Decisões de UX e acessibilidade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822191" y="2542032"/>
            <a:ext cx="2423160" cy="914400"/>
          </a:xfrm>
          <a:prstGeom prst="roundRect">
            <a:avLst/>
          </a:prstGeom>
          <a:solidFill>
            <a:srgbClr val="F1F1F5"/>
          </a:solidFill>
          <a:ln w="12700">
            <a:solidFill>
              <a:srgbClr val="CAC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968496" y="2706624"/>
            <a:ext cx="146304" cy="146304"/>
          </a:xfrm>
          <a:prstGeom prst="ellipse">
            <a:avLst/>
          </a:prstGeom>
          <a:solidFill>
            <a:srgbClr val="13B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87952" y="2670048"/>
            <a:ext cx="187451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72934"/>
                </a:solidFill>
                <a:latin typeface="Aptos"/>
              </a:rPr>
              <a:t>Rótulos claros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87952" y="2926079"/>
            <a:ext cx="187451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0" b="0" i="0">
                <a:solidFill>
                  <a:srgbClr val="565862"/>
                </a:solidFill>
                <a:latin typeface="Aptos"/>
              </a:rPr>
              <a:t>Ícones apoiam o texto — não o substituem.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28816" y="2542032"/>
            <a:ext cx="2423160" cy="914400"/>
          </a:xfrm>
          <a:prstGeom prst="roundRect">
            <a:avLst/>
          </a:prstGeom>
          <a:solidFill>
            <a:srgbClr val="F1F1F5"/>
          </a:solidFill>
          <a:ln w="12700">
            <a:solidFill>
              <a:srgbClr val="CAC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675120" y="2706624"/>
            <a:ext cx="146304" cy="146304"/>
          </a:xfrm>
          <a:prstGeom prst="ellipse">
            <a:avLst/>
          </a:prstGeom>
          <a:solidFill>
            <a:srgbClr val="13B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94576" y="2670048"/>
            <a:ext cx="187451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72934"/>
                </a:solidFill>
                <a:latin typeface="Aptos"/>
              </a:rPr>
              <a:t>Erros explicados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94576" y="2926079"/>
            <a:ext cx="187451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0" b="0" i="0">
                <a:solidFill>
                  <a:srgbClr val="565862"/>
                </a:solidFill>
                <a:latin typeface="Aptos"/>
              </a:rPr>
              <a:t>Mensagem textual além do uso de cor.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822191" y="3685032"/>
            <a:ext cx="2423160" cy="914400"/>
          </a:xfrm>
          <a:prstGeom prst="roundRect">
            <a:avLst/>
          </a:prstGeom>
          <a:solidFill>
            <a:srgbClr val="F1F1F5"/>
          </a:solidFill>
          <a:ln w="12700">
            <a:solidFill>
              <a:srgbClr val="CAC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968496" y="3849624"/>
            <a:ext cx="146304" cy="146304"/>
          </a:xfrm>
          <a:prstGeom prst="ellipse">
            <a:avLst/>
          </a:prstGeom>
          <a:solidFill>
            <a:srgbClr val="13B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87952" y="3813048"/>
            <a:ext cx="187451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72934"/>
                </a:solidFill>
                <a:latin typeface="Aptos"/>
              </a:rPr>
              <a:t>Teclado e leitor de tela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87952" y="4069080"/>
            <a:ext cx="187451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0" b="0" i="0">
                <a:solidFill>
                  <a:srgbClr val="565862"/>
                </a:solidFill>
                <a:latin typeface="Aptos"/>
              </a:rPr>
              <a:t>Estrutura compreensível e operável.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28816" y="3685032"/>
            <a:ext cx="2423160" cy="914400"/>
          </a:xfrm>
          <a:prstGeom prst="roundRect">
            <a:avLst/>
          </a:prstGeom>
          <a:solidFill>
            <a:srgbClr val="F1F1F5"/>
          </a:solidFill>
          <a:ln w="12700">
            <a:solidFill>
              <a:srgbClr val="CAC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675120" y="3849624"/>
            <a:ext cx="146304" cy="146304"/>
          </a:xfrm>
          <a:prstGeom prst="ellipse">
            <a:avLst/>
          </a:prstGeom>
          <a:solidFill>
            <a:srgbClr val="13B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94576" y="3813048"/>
            <a:ext cx="187451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72934"/>
                </a:solidFill>
                <a:latin typeface="Aptos"/>
              </a:rPr>
              <a:t>Contraste e legibilidade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94576" y="4069080"/>
            <a:ext cx="187451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0" b="0" i="0">
                <a:solidFill>
                  <a:srgbClr val="565862"/>
                </a:solidFill>
                <a:latin typeface="Aptos"/>
              </a:rPr>
              <a:t>Texto, foco e controles fáceis de perceber.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822191" y="4828032"/>
            <a:ext cx="2423160" cy="914400"/>
          </a:xfrm>
          <a:prstGeom prst="roundRect">
            <a:avLst/>
          </a:prstGeom>
          <a:solidFill>
            <a:srgbClr val="F1F1F5"/>
          </a:solidFill>
          <a:ln w="12700">
            <a:solidFill>
              <a:srgbClr val="CAC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968496" y="4992624"/>
            <a:ext cx="146304" cy="146304"/>
          </a:xfrm>
          <a:prstGeom prst="ellipse">
            <a:avLst/>
          </a:prstGeom>
          <a:solidFill>
            <a:srgbClr val="13B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187952" y="4956048"/>
            <a:ext cx="187451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72934"/>
                </a:solidFill>
                <a:latin typeface="Aptos"/>
              </a:rPr>
              <a:t>Responsivo e com zoom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87952" y="5212080"/>
            <a:ext cx="187451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0" b="0" i="0">
                <a:solidFill>
                  <a:srgbClr val="565862"/>
                </a:solidFill>
                <a:latin typeface="Aptos"/>
              </a:rPr>
              <a:t>Uso em celular e ampliação sem perda de conteúdo.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528816" y="4828032"/>
            <a:ext cx="2423160" cy="914400"/>
          </a:xfrm>
          <a:prstGeom prst="roundRect">
            <a:avLst/>
          </a:prstGeom>
          <a:solidFill>
            <a:srgbClr val="F1F1F5"/>
          </a:solidFill>
          <a:ln w="12700">
            <a:solidFill>
              <a:srgbClr val="CAC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675120" y="4992624"/>
            <a:ext cx="146304" cy="146304"/>
          </a:xfrm>
          <a:prstGeom prst="ellipse">
            <a:avLst/>
          </a:prstGeom>
          <a:solidFill>
            <a:srgbClr val="13B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894576" y="4956048"/>
            <a:ext cx="187451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72934"/>
                </a:solidFill>
                <a:latin typeface="Aptos"/>
              </a:rPr>
              <a:t>Linguagem simples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94576" y="5212080"/>
            <a:ext cx="187451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0" b="0" i="0">
                <a:solidFill>
                  <a:srgbClr val="565862"/>
                </a:solidFill>
                <a:latin typeface="Aptos"/>
              </a:rPr>
              <a:t>Instruções curtas, especialmente para baixa familiaridade digital.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253728" y="2505456"/>
            <a:ext cx="2240280" cy="3236976"/>
          </a:xfrm>
          <a:prstGeom prst="roundRect">
            <a:avLst/>
          </a:prstGeom>
          <a:solidFill>
            <a:srgbClr val="EDEEF3"/>
          </a:solidFill>
          <a:ln w="12700">
            <a:solidFill>
              <a:srgbClr val="CAC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491472" y="272491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0A66C2"/>
                </a:solidFill>
                <a:latin typeface="Aptos"/>
              </a:rPr>
              <a:t>LINKEDIN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491472" y="3072384"/>
            <a:ext cx="1755648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72934"/>
                </a:solidFill>
                <a:latin typeface="Aptos Display"/>
              </a:rPr>
              <a:t>“Acessibilidade não entra no fim do projeto.”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491472" y="3794760"/>
            <a:ext cx="1755648" cy="1298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65862"/>
                </a:solidFill>
                <a:latin typeface="Aptos"/>
              </a:rPr>
              <a:t>No Clínica-Tech, meu foco foi transformar requisitos de usabilidade e acessibilidade em decisões concretas de interface, reduzindo barreiras no agendamento e no uso interno.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491472" y="5303520"/>
            <a:ext cx="17556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0" b="0" i="1">
                <a:solidFill>
                  <a:srgbClr val="565862"/>
                </a:solidFill>
                <a:latin typeface="Aptos"/>
              </a:rPr>
              <a:t>UX/UI + Acessibilidade · Clínica-Tech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49808" y="5779008"/>
            <a:ext cx="81838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1">
                <a:solidFill>
                  <a:srgbClr val="565862"/>
                </a:solidFill>
                <a:latin typeface="Aptos"/>
              </a:rPr>
              <a:t>O material de acessibilidade foi aproveitado apenas onde é compatível com os requisitos já aprovados; novas integrações ou recursos específicos dependem de validação do PO.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621792" y="6501384"/>
            <a:ext cx="11146536" cy="0"/>
          </a:xfrm>
          <a:prstGeom prst="line">
            <a:avLst/>
          </a:prstGeom>
          <a:ln w="10160">
            <a:solidFill>
              <a:srgbClr val="CACB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630936" y="6547104"/>
            <a:ext cx="36576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787984"/>
                </a:solidFill>
                <a:latin typeface="Aptos"/>
              </a:rPr>
              <a:t>Clínica-Tech · Projeto de Perfil Profissional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567160" y="6547104"/>
            <a:ext cx="20116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787984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