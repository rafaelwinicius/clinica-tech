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Clínica-Tech | Back-end e Regras de Negócio</a:t>
            </a:r>
          </a:p>
          <a:p>
            <a:pPr>
              <a:defRPr sz="1600">
                <a:solidFill>
                  <a:srgbClr val="0D9488"/>
                </a:solidFill>
              </a:defRPr>
            </a:pPr>
            <a:r>
              <a:t>O que acontece por trás de cada agendamento centralizado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Fluxo de Execução da Solicitação:</a:t>
            </a:r>
          </a:p>
          <a:p>
            <a:pPr>
              <a:defRPr sz="1500" b="1">
                <a:solidFill>
                  <a:srgbClr val="0D9488"/>
                </a:solidFill>
              </a:defRPr>
            </a:pPr>
            <a:r>
              <a:t>Canal (WhatsApp/Web)  ➔  Back-end API  ➔  Validação de Regras  ➔  Banco Centralizado  ➔  Resposta Confiável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Exemplo Prático: Prevenção de Conflito de Horários (RN01 e RNF03)</a:t>
            </a:r>
          </a:p>
          <a:p>
            <a:pPr>
              <a:spcBef>
                <a:spcPts val="1000"/>
              </a:spcBef>
            </a:pPr>
            <a:r>
              <a:rPr b="1" sz="1500">
                <a:solidFill>
                  <a:srgbClr val="1A365D"/>
                </a:solidFill>
              </a:rPr>
              <a:t>• Validação de Agenda Única: </a:t>
            </a:r>
            <a:r>
              <a:rPr sz="1500">
                <a:solidFill>
                  <a:srgbClr val="1E293B"/>
                </a:solidFill>
              </a:rPr>
              <a:t>Chatbot e secretária consultam exatamente a mesma base de dados em tempo real.</a:t>
            </a:r>
          </a:p>
          <a:p>
            <a:pPr>
              <a:spcBef>
                <a:spcPts val="1000"/>
              </a:spcBef>
            </a:pPr>
            <a:r>
              <a:rPr b="1" sz="1500">
                <a:solidFill>
                  <a:srgbClr val="1A365D"/>
                </a:solidFill>
              </a:rPr>
              <a:t>• Prevenção de Duplicidade: </a:t>
            </a:r>
            <a:r>
              <a:rPr sz="1500">
                <a:solidFill>
                  <a:srgbClr val="1E293B"/>
                </a:solidFill>
              </a:rPr>
              <a:t>Um profissional não pode ter dois atendimentos no mesmo horário, mesmo que em unidades distintas.</a:t>
            </a:r>
          </a:p>
          <a:p>
            <a:pPr>
              <a:spcBef>
                <a:spcPts val="1000"/>
              </a:spcBef>
            </a:pPr>
            <a:r>
              <a:rPr b="1" sz="1500">
                <a:solidFill>
                  <a:srgbClr val="1A365D"/>
                </a:solidFill>
              </a:rPr>
              <a:t>• Transação Atômica: </a:t>
            </a:r>
            <a:r>
              <a:rPr sz="1500">
                <a:solidFill>
                  <a:srgbClr val="1E293B"/>
                </a:solidFill>
              </a:rPr>
              <a:t>O horário só é ocupado no momento exato da confirmação final, liberando a vaga imediatamente em caso de cancelamento.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365D"/>
                </a:solidFill>
              </a:defRPr>
            </a:pPr>
            <a:r>
              <a:t>Clínica-Tech | Permissões e Segurança da Informação</a:t>
            </a:r>
          </a:p>
          <a:p>
            <a:pPr>
              <a:defRPr sz="1600">
                <a:solidFill>
                  <a:srgbClr val="0D9488"/>
                </a:solidFill>
              </a:defRPr>
            </a:pPr>
            <a:r>
              <a:t>Garantia de acesso mínimo, integridade dos dados e trilha de auditoria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Controle de Acesso e Governança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A365D"/>
                </a:solidFill>
              </a:rPr>
              <a:t>• Autenticação Individual: </a:t>
            </a:r>
            <a:r>
              <a:rPr sz="1300">
                <a:solidFill>
                  <a:srgbClr val="1E293B"/>
                </a:solidFill>
              </a:rPr>
              <a:t>Acesso restrito ao ambiente administrativo com credenciais únicas.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A365D"/>
                </a:solidFill>
              </a:rPr>
              <a:t>• Autorização por Perfil: </a:t>
            </a:r>
            <a:r>
              <a:rPr sz="1300">
                <a:solidFill>
                  <a:srgbClr val="1E293B"/>
                </a:solidFill>
              </a:rPr>
              <a:t>Gerente restrito à sua unidade; secretária agenda na rede; profissional visualiza apenas sua agenda.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A365D"/>
                </a:solidFill>
              </a:rPr>
              <a:t>• Privacidade por Padrão: </a:t>
            </a:r>
            <a:r>
              <a:rPr sz="1300">
                <a:solidFill>
                  <a:srgbClr val="1E293B"/>
                </a:solidFill>
              </a:rPr>
              <a:t>Paciente agenda sem login; dados coletados são apenas os estritamente necessários (nome, CPF, nascimento, fone).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1A365D"/>
                </a:solidFill>
              </a:rPr>
              <a:t>• Trilha de Auditoria: </a:t>
            </a:r>
            <a:r>
              <a:rPr sz="1300">
                <a:solidFill>
                  <a:srgbClr val="1E293B"/>
                </a:solidFill>
              </a:rPr>
              <a:t>Registro de usuário e data em qualquer cancelamento, remarcação ou alteração relevante.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Impacto da Solução &amp; Postura Técnica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1A365D"/>
                </a:solidFill>
              </a:rPr>
              <a:t>• Operação Robusta: </a:t>
            </a:r>
            <a:r>
              <a:rPr sz="1300">
                <a:solidFill>
                  <a:srgbClr val="1E293B"/>
                </a:solidFill>
              </a:rPr>
              <a:t>O back-end blinda o sistema contra furos de agenda, sobreposições e acessos não autorizados.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1A365D"/>
                </a:solidFill>
              </a:rPr>
              <a:t>• Resiliência Operacional: </a:t>
            </a:r>
            <a:r>
              <a:rPr sz="1300">
                <a:solidFill>
                  <a:srgbClr val="1E293B"/>
                </a:solidFill>
              </a:rPr>
              <a:t>Mesmo sob oscilações, a integridade da base e os backups garantem a continuidade dos atendimentos.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1A365D"/>
                </a:solidFill>
              </a:rPr>
              <a:t>• Destaque Profissional: </a:t>
            </a:r>
            <a:r>
              <a:rPr sz="1300">
                <a:solidFill>
                  <a:srgbClr val="1E293B"/>
                </a:solidFill>
              </a:rPr>
              <a:t>Compartilhamento no LinkedIn sobre os desafios de projetar fluxos transacionais consistentes e controle de acesso rigoroso para serviços de saúde.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