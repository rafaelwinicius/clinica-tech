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438912"/>
            <a:ext cx="2514600" cy="310896"/>
          </a:xfrm>
          <a:prstGeom prst="roundRect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" y="507492"/>
            <a:ext cx="2240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5862"/>
                </a:solidFill>
                <a:latin typeface="Arial"/>
              </a:rPr>
              <a:t>BACK-END E REGRAS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6012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>
                <a:solidFill>
                  <a:srgbClr val="272934"/>
                </a:solidFill>
                <a:latin typeface="Arial"/>
              </a:rPr>
              <a:t>Clínica-Tech | Back-end e 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65862"/>
                </a:solidFill>
                <a:latin typeface="Arial"/>
              </a:rPr>
              <a:t>O que acontece por trás de cada agendamento 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84831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272934"/>
                </a:solidFill>
                <a:latin typeface="Arial"/>
              </a:rPr>
              <a:t>Fluxo de Execução da Solicitação: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487168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65862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688336"/>
            <a:ext cx="12435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72934"/>
                </a:solidFill>
                <a:latin typeface="Arial"/>
              </a:rPr>
              <a:t>Canal (WhatsApp/Web)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71576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rial"/>
              </a:rP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487168"/>
            <a:ext cx="17007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81528" y="2688336"/>
            <a:ext cx="329184" cy="329184"/>
          </a:xfrm>
          <a:prstGeom prst="ellipse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8" y="277063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65862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688336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72934"/>
                </a:solidFill>
                <a:latin typeface="Arial"/>
              </a:rPr>
              <a:t>Back-end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71576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rial"/>
              </a:rP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2487168"/>
            <a:ext cx="19019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57800" y="2688336"/>
            <a:ext cx="329184" cy="329184"/>
          </a:xfrm>
          <a:prstGeom prst="ellipse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277063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65862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688336"/>
            <a:ext cx="12435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72934"/>
                </a:solidFill>
                <a:latin typeface="Arial"/>
              </a:rPr>
              <a:t>Validação de Regras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271576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rial"/>
              </a:rP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487168"/>
            <a:ext cx="1828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25512" y="2688336"/>
            <a:ext cx="329184" cy="329184"/>
          </a:xfrm>
          <a:prstGeom prst="ellipse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25512" y="277063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65862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688336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72934"/>
                </a:solidFill>
                <a:latin typeface="Arial"/>
              </a:rPr>
              <a:t>Banco Centralizado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5" y="271576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65862"/>
                </a:solidFill>
                <a:latin typeface="Arial"/>
              </a:rP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8" y="2487168"/>
            <a:ext cx="1810512" cy="749808"/>
          </a:xfrm>
          <a:prstGeom prst="roundRect">
            <a:avLst/>
          </a:prstGeom>
          <a:solidFill>
            <a:srgbClr val="DDF4EE"/>
          </a:solidFill>
          <a:ln w="12700"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784080" y="2688336"/>
            <a:ext cx="329184" cy="329184"/>
          </a:xfrm>
          <a:prstGeom prst="ellipse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277063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3848" y="2688336"/>
            <a:ext cx="115214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72934"/>
                </a:solidFill>
                <a:latin typeface="Arial"/>
              </a:rPr>
              <a:t>Resposta Confiável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" y="3401568"/>
            <a:ext cx="10789920" cy="502920"/>
          </a:xfrm>
          <a:prstGeom prst="roundRect">
            <a:avLst/>
          </a:prstGeom>
          <a:solidFill>
            <a:srgbClr val="DDF4EE"/>
          </a:solidFill>
          <a:ln w="12700"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566160"/>
            <a:ext cx="10332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 i="0">
                <a:solidFill>
                  <a:srgbClr val="147E6C"/>
                </a:solidFill>
                <a:latin typeface="Arial"/>
              </a:rPr>
              <a:t>Canal (WhatsApp/Web)  ➔  Back-end API  ➔  Validação de Regras  ➔  Banco Centralizado  ➔  Resposta Confiável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160520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272934"/>
                </a:solidFill>
                <a:latin typeface="Arial"/>
              </a:rPr>
              <a:t>Exemplo Prático: Prevenção de Conflito de Horários (RN01 e RNF03)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" y="4599432"/>
            <a:ext cx="3346704" cy="132588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mond 34"/>
          <p:cNvSpPr/>
          <p:nvPr/>
        </p:nvSpPr>
        <p:spPr>
          <a:xfrm>
            <a:off x="886968" y="4782312"/>
            <a:ext cx="329184" cy="329184"/>
          </a:xfrm>
          <a:prstGeom prst="diamond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471830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Validação de Agenda Única: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0749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Chatbot e secretária consultam exatamente a mesma base de dados em tempo real.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9975" y="4599432"/>
            <a:ext cx="3346704" cy="132588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562855" y="4782312"/>
            <a:ext cx="329184" cy="329184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01767" y="471830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Prevenção de Duplicidade: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7" y="50749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Um profissional não pode ter dois atendimentos no mesmo horário, mesmo que em unidades distintas.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55863" y="4599432"/>
            <a:ext cx="3346704" cy="1325880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Hexagon 42"/>
          <p:cNvSpPr/>
          <p:nvPr/>
        </p:nvSpPr>
        <p:spPr>
          <a:xfrm>
            <a:off x="8238743" y="4782312"/>
            <a:ext cx="329184" cy="329184"/>
          </a:xfrm>
          <a:prstGeom prst="hexagon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77655" y="4718304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Transação Atômica: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77655" y="5074920"/>
            <a:ext cx="248716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O horário só é ocupado no momento exato da confirmação final, liberando a vaga imediatamente em caso de cancelamento.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21792" y="6501384"/>
            <a:ext cx="11146536" cy="0"/>
          </a:xfrm>
          <a:prstGeom prst="line">
            <a:avLst/>
          </a:prstGeom>
          <a:ln w="1016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0936" y="6547104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87984"/>
                </a:solidFill>
                <a:latin typeface="Arial"/>
              </a:rPr>
              <a:t>Clínica-Tech · Projeto de Perfil Profissional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47104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87984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438912"/>
            <a:ext cx="2514600" cy="310896"/>
          </a:xfrm>
          <a:prstGeom prst="roundRect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" y="507492"/>
            <a:ext cx="2240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5862"/>
                </a:solidFill>
                <a:latin typeface="Arial"/>
              </a:rPr>
              <a:t>PERMISSÕES 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6012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>
                <a:solidFill>
                  <a:srgbClr val="272934"/>
                </a:solidFill>
                <a:latin typeface="Arial"/>
              </a:rPr>
              <a:t>Clínica-Tech | Permissões e Segurança da Informação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565862"/>
                </a:solidFill>
                <a:latin typeface="Arial"/>
              </a:rPr>
              <a:t>Garantia de acesso mínimo, integridade dos dados e trilha de auditoria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6720840" cy="3858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3774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72934"/>
                </a:solidFill>
                <a:latin typeface="Arial"/>
              </a:rPr>
              <a:t>Controle de Acesso e Governança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907792"/>
            <a:ext cx="310896" cy="310896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990088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3B597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889504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Autenticação Individual: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16382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Acesso restrito ao ambiente administrativo com credenciais únicas.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630168"/>
            <a:ext cx="310896" cy="310896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3712464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3B597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611880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Autorização por Perfil: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886200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Gerente restrito à sua unidade; secretária agenda na rede; profissional visualiza apenas sua agenda.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4352544"/>
            <a:ext cx="310896" cy="310896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434840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3B597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334256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Privacidade por Padrão: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608576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Paciente agenda sem login; dados coletados são apenas os estritamente necessários (nome, CPF, nascimento, fone).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" y="5074920"/>
            <a:ext cx="310896" cy="310896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5157216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3B597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5056632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20" b="1">
                <a:solidFill>
                  <a:srgbClr val="272934"/>
                </a:solidFill>
                <a:latin typeface="Arial"/>
              </a:rPr>
              <a:t>Trilha de Auditoria: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5330952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565862"/>
                </a:solidFill>
                <a:latin typeface="Arial"/>
              </a:rPr>
              <a:t>Registro de usuário e data em qualquer cancelamento, remarcação ou alteração relevante.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2121408"/>
            <a:ext cx="3840480" cy="3858768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36992" y="2377440"/>
            <a:ext cx="3182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30" b="0" i="0">
                <a:solidFill>
                  <a:srgbClr val="272934"/>
                </a:solidFill>
                <a:latin typeface="Arial"/>
              </a:rPr>
              <a:t>Impacto da Solução &amp; Postura Técnica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3182112"/>
            <a:ext cx="146304" cy="146304"/>
          </a:xfrm>
          <a:prstGeom prst="roundRect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145536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90" b="1">
                <a:solidFill>
                  <a:srgbClr val="272934"/>
                </a:solidFill>
                <a:latin typeface="Arial"/>
              </a:rPr>
              <a:t>Operação Robusta: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40156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65862"/>
                </a:solidFill>
                <a:latin typeface="Arial"/>
              </a:rPr>
              <a:t>O back-end blinda o sistema contra furos de agenda, sobreposições e acessos não autorizados.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6992" y="4059935"/>
            <a:ext cx="146304" cy="146304"/>
          </a:xfrm>
          <a:prstGeom prst="roundRect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0456" y="4023359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90" b="1">
                <a:solidFill>
                  <a:srgbClr val="272934"/>
                </a:solidFill>
                <a:latin typeface="Arial"/>
              </a:rPr>
              <a:t>Resiliência Operacional: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4279392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65862"/>
                </a:solidFill>
                <a:latin typeface="Arial"/>
              </a:rPr>
              <a:t>Mesmo sob oscilações, a integridade da base e os backups garantem a continuidade dos atendimentos.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36992" y="4937760"/>
            <a:ext cx="146304" cy="146304"/>
          </a:xfrm>
          <a:prstGeom prst="roundRect">
            <a:avLst/>
          </a:prstGeom>
          <a:solidFill>
            <a:srgbClr val="13B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6" y="4901184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90" b="1">
                <a:solidFill>
                  <a:srgbClr val="272934"/>
                </a:solidFill>
                <a:latin typeface="Arial"/>
              </a:rPr>
              <a:t>Destaque Profissional: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515721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>
                <a:solidFill>
                  <a:srgbClr val="565862"/>
                </a:solidFill>
                <a:latin typeface="Arial"/>
              </a:rPr>
              <a:t>Compartilhamento no LinkedIn sobre os desafios de projetar fluxos transacionais consistentes e controle de acesso rigoroso para serviços de saúde.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792" y="6501384"/>
            <a:ext cx="11146536" cy="0"/>
          </a:xfrm>
          <a:prstGeom prst="line">
            <a:avLst/>
          </a:prstGeom>
          <a:ln w="1016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0936" y="6547104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87984"/>
                </a:solidFill>
                <a:latin typeface="Arial"/>
              </a:rPr>
              <a:t>Clínica-Tech · Projeto de Perfil Profissional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47104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87984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438912"/>
            <a:ext cx="2514600" cy="310896"/>
          </a:xfrm>
          <a:prstGeom prst="roundRect">
            <a:avLst/>
          </a:prstGeom>
          <a:solidFill>
            <a:srgbClr val="E7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" y="507492"/>
            <a:ext cx="2240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65862"/>
                </a:solidFill>
                <a:latin typeface="Arial"/>
              </a:rPr>
              <a:t>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969264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272934"/>
                </a:solidFill>
                <a:latin typeface="Arial"/>
              </a:rPr>
              <a:t>Proposta de postagem profissional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47088"/>
            <a:ext cx="7479792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61872" y="2148840"/>
            <a:ext cx="566928" cy="566928"/>
          </a:xfrm>
          <a:prstGeom prst="ellipse">
            <a:avLst/>
          </a:prstGeom>
          <a:solidFill>
            <a:srgbClr val="E9EEF4"/>
          </a:solidFill>
          <a:ln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3392" y="2176272"/>
            <a:ext cx="3108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272934"/>
                </a:solidFill>
                <a:latin typeface="Arial"/>
              </a:rPr>
              <a:t>Mateus Brito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747681"/>
                </a:solidFill>
                <a:latin typeface="Arial"/>
              </a:rPr>
              <a:t>Back-end + Segurança · Clínica-Tech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22494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A66C2"/>
                </a:solidFill>
                <a:latin typeface="Arial"/>
              </a:rPr>
              <a:t>+ Seguir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962656"/>
            <a:ext cx="6748272" cy="261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4A4C56"/>
                </a:solidFill>
                <a:latin typeface="Arial"/>
              </a:rPr>
              <a:t>No desenvolvimento de sistemas voltados à saúde, a confiabilidade das regras de negócio e o controle de acesso são tão vitais quanto uma interface intuitiva.
Recentemente, atuei na arquitetura de Back-end e Segurança da Informação do Clínica-Tech, uma plataforma web integrada ao WhatsApp projetada para centralizar o agendamento de consultas de uma rede com cinco unidades.
Minha contribuição esteve concentrada em:
🔹 Integridade e Prevenção de Conflitos: Estruturação de validações para impedir que um mesmo profissional tenha horários sobrepostos em unidades diferentes ou reservas concorrentes no mesmo instante.
🔹 Controle de Acesso Baseado em Perfis (RBAC): Garantia de privilégios mínimos entre secretárias, profissionais e gestores, mantendo a operação das unidades devidamente isolada.
🔹 Privacidade e Minimização de Dados: Aplicação de práticas alinhadas à LGPD, coletando apenas dados indispensáveis ao agendamento e implementando trilhas de auditoria para operações críticas.
Projetar sistemas seguros e resilientes é um exercício constante de equilíbrio entre experiência do usuário e consistência transacional.
#Backend #SegurancaDaInformacao #SoftwareEngineering #LGPD #SistemasDeSaude #WebDevelopment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61872" y="5632704"/>
            <a:ext cx="6821424" cy="0"/>
          </a:xfrm>
          <a:prstGeom prst="line">
            <a:avLst/>
          </a:prstGeom>
          <a:ln w="10160">
            <a:solidFill>
              <a:srgbClr val="DED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14600" y="574243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0" i="0">
                <a:solidFill>
                  <a:srgbClr val="272934"/>
                </a:solidFill>
                <a:latin typeface="Arial"/>
              </a:rPr>
              <a:t>Gostar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74243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0" i="0">
                <a:solidFill>
                  <a:srgbClr val="272934"/>
                </a:solidFill>
                <a:latin typeface="Arial"/>
              </a:rPr>
              <a:t>Comentar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74243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0" i="0">
                <a:solidFill>
                  <a:srgbClr val="272934"/>
                </a:solidFill>
                <a:latin typeface="Arial"/>
              </a:rPr>
              <a:t>Compartilhar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74243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0" i="0">
                <a:solidFill>
                  <a:srgbClr val="272934"/>
                </a:solidFill>
                <a:latin typeface="Arial"/>
              </a:rPr>
              <a:t>Enviar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847088"/>
            <a:ext cx="2578608" cy="4224528"/>
          </a:xfrm>
          <a:prstGeom prst="roundRect">
            <a:avLst/>
          </a:prstGeom>
          <a:solidFill>
            <a:srgbClr val="F1F1F5"/>
          </a:solidFill>
          <a:ln w="12700">
            <a:solidFill>
              <a:srgbClr val="CA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22128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72934"/>
                </a:solidFill>
                <a:latin typeface="Arial"/>
              </a:rPr>
              <a:t>O post contempla</a:t>
            </a:r>
          </a:p>
        </p:txBody>
      </p:sp>
      <p:sp>
        <p:nvSpPr>
          <p:cNvPr id="18" name="Diamond 17"/>
          <p:cNvSpPr/>
          <p:nvPr/>
        </p:nvSpPr>
        <p:spPr>
          <a:xfrm>
            <a:off x="9025128" y="2852928"/>
            <a:ext cx="283464" cy="283464"/>
          </a:xfrm>
          <a:prstGeom prst="diamond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2843784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1" i="0">
                <a:solidFill>
                  <a:srgbClr val="272934"/>
                </a:solidFill>
                <a:latin typeface="Arial"/>
              </a:rPr>
              <a:t>Integridade e Prevenção de Conflitos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163824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65862"/>
                </a:solidFill>
                <a:latin typeface="Arial"/>
              </a:rPr>
              <a:t>reservas concorrentes e horários sobrepostos</a:t>
            </a:r>
          </a:p>
        </p:txBody>
      </p:sp>
      <p:sp>
        <p:nvSpPr>
          <p:cNvPr id="21" name="Hexagon 20"/>
          <p:cNvSpPr/>
          <p:nvPr/>
        </p:nvSpPr>
        <p:spPr>
          <a:xfrm>
            <a:off x="9025128" y="3639312"/>
            <a:ext cx="283464" cy="283464"/>
          </a:xfrm>
          <a:prstGeom prst="hexagon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630168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1" i="0">
                <a:solidFill>
                  <a:srgbClr val="272934"/>
                </a:solidFill>
                <a:latin typeface="Arial"/>
              </a:rPr>
              <a:t>Controle de Acesso Baseado em Perfis (RBAC)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105656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565862"/>
                </a:solidFill>
                <a:latin typeface="Arial"/>
              </a:rPr>
              <a:t>privilégios</a:t>
            </a:r>
            <a:r>
              <a:rPr sz="900" b="0" i="0" dirty="0">
                <a:solidFill>
                  <a:srgbClr val="565862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565862"/>
                </a:solidFill>
                <a:latin typeface="Arial"/>
              </a:rPr>
              <a:t>mínimos</a:t>
            </a:r>
            <a:r>
              <a:rPr sz="900" b="0" i="0" dirty="0">
                <a:solidFill>
                  <a:srgbClr val="565862"/>
                </a:solidFill>
                <a:latin typeface="Arial"/>
              </a:rPr>
              <a:t> entre </a:t>
            </a:r>
            <a:r>
              <a:rPr sz="900" b="0" i="0" dirty="0" err="1">
                <a:solidFill>
                  <a:srgbClr val="565862"/>
                </a:solidFill>
                <a:latin typeface="Arial"/>
              </a:rPr>
              <a:t>perfis</a:t>
            </a:r>
            <a:endParaRPr sz="900" b="0" i="0" dirty="0">
              <a:solidFill>
                <a:srgbClr val="565862"/>
              </a:solidFill>
              <a:latin typeface="Arial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025128" y="4425696"/>
            <a:ext cx="283464" cy="283464"/>
          </a:xfrm>
          <a:prstGeom prst="ellipse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4416552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1" i="0">
                <a:solidFill>
                  <a:srgbClr val="272934"/>
                </a:solidFill>
                <a:latin typeface="Arial"/>
              </a:rPr>
              <a:t>Privacidade e Minimização de Dados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736592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65862"/>
                </a:solidFill>
                <a:latin typeface="Arial"/>
              </a:rPr>
              <a:t>dados indispensáveis e trilhas de auditoria</a:t>
            </a:r>
          </a:p>
        </p:txBody>
      </p:sp>
      <p:sp>
        <p:nvSpPr>
          <p:cNvPr id="27" name="5-Point Star 26"/>
          <p:cNvSpPr/>
          <p:nvPr/>
        </p:nvSpPr>
        <p:spPr>
          <a:xfrm>
            <a:off x="9025128" y="5212080"/>
            <a:ext cx="283464" cy="283464"/>
          </a:xfrm>
          <a:prstGeom prst="star5">
            <a:avLst/>
          </a:prstGeom>
          <a:solidFill>
            <a:srgbClr val="DDF4EE"/>
          </a:solidFill>
          <a:ln>
            <a:solidFill>
              <a:srgbClr val="13B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5202936"/>
            <a:ext cx="15910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0" b="1" i="0">
                <a:solidFill>
                  <a:srgbClr val="272934"/>
                </a:solidFill>
                <a:latin typeface="Arial"/>
              </a:rPr>
              <a:t>Sistemas seguros e resilientes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522976"/>
            <a:ext cx="15910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65862"/>
                </a:solidFill>
                <a:latin typeface="Arial"/>
              </a:rPr>
              <a:t>experiência do usuário e consistência transacional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" y="6501384"/>
            <a:ext cx="11146536" cy="0"/>
          </a:xfrm>
          <a:prstGeom prst="line">
            <a:avLst/>
          </a:prstGeom>
          <a:ln w="10160">
            <a:solidFill>
              <a:srgbClr val="CA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" y="6547104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87984"/>
                </a:solidFill>
                <a:latin typeface="Arial"/>
              </a:rPr>
              <a:t>Clínica-Tech · Projeto de Perfil Profissional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47104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87984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Widescreen</PresentationFormat>
  <Paragraphs>74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winicius</cp:lastModifiedBy>
  <cp:revision>2</cp:revision>
  <dcterms:created xsi:type="dcterms:W3CDTF">2013-01-27T09:14:16Z</dcterms:created>
  <dcterms:modified xsi:type="dcterms:W3CDTF">2026-09-17T17:44:19Z</dcterms:modified>
  <cp:category/>
</cp:coreProperties>
</file>