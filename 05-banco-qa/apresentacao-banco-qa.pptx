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9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Clínica-Tech, o Agendamento é o coração do banco de dados: ele conecta o paciente, o profissional, a unidade e a especialidade escolhidos, e é a partir dele que nascem o atendimento realizado e os lembretes enviados. Organizar os dados dessa forma evita duplicidade de cadastro e garante que, ao consultar um agendamento, o sistema sempre saiba exatamente quem, onde e quando.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garantir que tudo isso funcione na prática, testamos quatro cenários principais: primeiro, o caminho normal, onde o paciente marca em um horário livre; segundo, o conflito, quando dois pacientes tentam usar o mesmo horário com o mesmo profissional, e o sistema precisa bloquear a segunda tentativa; terceiro, cancelamento e remarcação, verificando que o horário é liberado corretamente e não sobram registros duplicados; e quarto, o controle de acesso, garantindo que cada perfil só veja o que tem permissão.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438912"/>
            <a:ext cx="2194560" cy="310896"/>
          </a:xfrm>
          <a:prstGeom prst="roundRect">
            <a:avLst/>
          </a:prstGeom>
          <a:solidFill>
            <a:srgbClr val="E7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507492"/>
            <a:ext cx="1920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65862"/>
                </a:solidFill>
                <a:latin typeface="Aptos"/>
              </a:rPr>
              <a:t>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9144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65862"/>
                </a:solidFill>
                <a:latin typeface="Aptos"/>
              </a:rPr>
              <a:t>Clínica-Tech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272934"/>
                </a:solidFill>
                <a:latin typeface="Aptos Display"/>
              </a:rPr>
              <a:t>Como os dados se relacionam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65862"/>
                </a:solidFill>
                <a:latin typeface="Aptos"/>
              </a:rPr>
              <a:t>Modelo conceitual simplificado das principais entidades do sistema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788920"/>
            <a:ext cx="2880360" cy="1417320"/>
          </a:xfrm>
          <a:prstGeom prst="roundRect">
            <a:avLst/>
          </a:prstGeom>
          <a:solidFill>
            <a:srgbClr val="DDF4EE"/>
          </a:solidFill>
          <a:ln w="12700">
            <a:solidFill>
              <a:srgbClr val="13B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3017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272934"/>
                </a:solidFill>
                <a:latin typeface="Aptos Display"/>
              </a:rPr>
              <a:t>Agendamento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493008"/>
            <a:ext cx="22402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70" b="0" i="0">
                <a:solidFill>
                  <a:srgbClr val="565862"/>
                </a:solidFill>
                <a:latin typeface="Aptos"/>
              </a:rPr>
              <a:t>Paciente, profissional, unidade,
data, horário,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06040"/>
            <a:ext cx="2331720" cy="1051560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0392" y="2770632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565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72491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72934"/>
                </a:solidFill>
                <a:latin typeface="Aptos Display"/>
              </a:rPr>
              <a:t>Paciente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18104"/>
            <a:ext cx="161848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65862"/>
                </a:solidFill>
                <a:latin typeface="Aptos"/>
              </a:rPr>
              <a:t>Nome, CPF, contato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2331720" cy="1051560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392" y="4233672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565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418795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72934"/>
                </a:solidFill>
                <a:latin typeface="Aptos Display"/>
              </a:rPr>
              <a:t>Profissional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61848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65862"/>
                </a:solidFill>
                <a:latin typeface="Aptos"/>
              </a:rPr>
              <a:t>Registro, especialidade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1432" y="2606040"/>
            <a:ext cx="2331720" cy="1051560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36024" y="2770632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565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0072" y="272491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72934"/>
                </a:solidFill>
                <a:latin typeface="Aptos Display"/>
              </a:rPr>
              <a:t>Unidade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3118104"/>
            <a:ext cx="161848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65862"/>
                </a:solidFill>
                <a:latin typeface="Aptos"/>
              </a:rPr>
              <a:t>Endereço, horário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71432" y="4069080"/>
            <a:ext cx="2331720" cy="1051560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36024" y="4233672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565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418795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72934"/>
                </a:solidFill>
                <a:latin typeface="Aptos Display"/>
              </a:rPr>
              <a:t>Especialidade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4581144"/>
            <a:ext cx="161848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65862"/>
                </a:solidFill>
                <a:latin typeface="Aptos"/>
              </a:rPr>
              <a:t>Serviço, duração média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892040"/>
            <a:ext cx="2057400" cy="960120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67912" y="5056632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565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60" y="5010912"/>
            <a:ext cx="1344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72934"/>
                </a:solidFill>
                <a:latin typeface="Aptos Display"/>
              </a:rPr>
              <a:t>Atendimento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5404104"/>
            <a:ext cx="13441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65862"/>
                </a:solidFill>
                <a:latin typeface="Aptos"/>
              </a:rPr>
              <a:t>Registro da consulta realizada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4892040"/>
            <a:ext cx="2057400" cy="960120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11112" y="5056632"/>
            <a:ext cx="274320" cy="274320"/>
          </a:xfrm>
          <a:prstGeom prst="ellipse">
            <a:avLst/>
          </a:prstGeom>
          <a:solidFill>
            <a:srgbClr val="FFFFFF"/>
          </a:solidFill>
          <a:ln>
            <a:solidFill>
              <a:srgbClr val="5658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5010912"/>
            <a:ext cx="1344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272934"/>
                </a:solidFill>
                <a:latin typeface="Aptos Display"/>
              </a:rPr>
              <a:t>Lembrete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5404104"/>
            <a:ext cx="13441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565862"/>
                </a:solidFill>
                <a:latin typeface="Aptos"/>
              </a:rPr>
              <a:t>Canal, data de envio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17520" y="3127248"/>
            <a:ext cx="1600200" cy="118872"/>
          </a:xfrm>
          <a:prstGeom prst="line">
            <a:avLst/>
          </a:prstGeom>
          <a:ln w="1524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017520" y="3703320"/>
            <a:ext cx="1600200" cy="886968"/>
          </a:xfrm>
          <a:prstGeom prst="line">
            <a:avLst/>
          </a:prstGeom>
          <a:ln w="1524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498079" y="3127248"/>
            <a:ext cx="1673353" cy="118872"/>
          </a:xfrm>
          <a:prstGeom prst="line">
            <a:avLst/>
          </a:prstGeom>
          <a:ln w="1524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7498079" y="3703320"/>
            <a:ext cx="1673353" cy="886968"/>
          </a:xfrm>
          <a:prstGeom prst="line">
            <a:avLst/>
          </a:prstGeom>
          <a:ln w="1524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742432" y="4206240"/>
            <a:ext cx="0" cy="685800"/>
          </a:xfrm>
          <a:prstGeom prst="line">
            <a:avLst/>
          </a:prstGeom>
          <a:ln w="1524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6601968" y="4206240"/>
            <a:ext cx="758952" cy="685800"/>
          </a:xfrm>
          <a:prstGeom prst="line">
            <a:avLst/>
          </a:prstGeom>
          <a:ln w="1524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85800" y="5989320"/>
            <a:ext cx="10808208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6071616"/>
            <a:ext cx="10442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 i="0">
                <a:solidFill>
                  <a:srgbClr val="565862"/>
                </a:solidFill>
                <a:latin typeface="Aptos"/>
              </a:rPr>
              <a:t>O Agendamento é o núcleo do sistema: conecta paciente, profissional, unidade e especialidade, e pode originar um atendimento e lembretes.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21792" y="6501384"/>
            <a:ext cx="11146536" cy="0"/>
          </a:xfrm>
          <a:prstGeom prst="line">
            <a:avLst/>
          </a:prstGeom>
          <a:ln w="1016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30936" y="6547104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87984"/>
                </a:solidFill>
                <a:latin typeface="Aptos"/>
              </a:rPr>
              <a:t>Clínica-Tech · Projeto de Perfil Profissional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547104"/>
            <a:ext cx="2560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87984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438912"/>
            <a:ext cx="2194560" cy="310896"/>
          </a:xfrm>
          <a:prstGeom prst="roundRect">
            <a:avLst/>
          </a:prstGeom>
          <a:solidFill>
            <a:srgbClr val="E7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507492"/>
            <a:ext cx="1920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65862"/>
                </a:solidFill>
                <a:latin typeface="Aptos"/>
              </a:rPr>
              <a:t>QA /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9144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65862"/>
                </a:solidFill>
                <a:latin typeface="Aptos"/>
              </a:rPr>
              <a:t>Clínica-Tech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243584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272934"/>
                </a:solidFill>
                <a:latin typeface="Aptos Display"/>
              </a:rPr>
              <a:t>Como verificamos se funciona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56231"/>
            <a:ext cx="10241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65862"/>
                </a:solidFill>
                <a:latin typeface="Aptos"/>
              </a:rPr>
              <a:t>Cenários de teste que validam a consistência dos agendamentos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423160"/>
            <a:ext cx="5230368" cy="1481328"/>
          </a:xfrm>
          <a:prstGeom prst="roundRect">
            <a:avLst/>
          </a:prstGeom>
          <a:solidFill>
            <a:srgbClr val="DDF4EE"/>
          </a:solidFill>
          <a:ln w="12700">
            <a:solidFill>
              <a:srgbClr val="13B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587752"/>
            <a:ext cx="347472" cy="347472"/>
          </a:xfrm>
          <a:prstGeom prst="ellipse">
            <a:avLst/>
          </a:prstGeom>
          <a:solidFill>
            <a:srgbClr val="13B597"/>
          </a:solidFill>
          <a:ln>
            <a:solidFill>
              <a:srgbClr val="13B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683763"/>
            <a:ext cx="3474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569464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72934"/>
                </a:solidFill>
                <a:latin typeface="Aptos Display"/>
              </a:rPr>
              <a:t>Agendamento em horário livre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2935224"/>
            <a:ext cx="444398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0" i="0">
                <a:solidFill>
                  <a:srgbClr val="565862"/>
                </a:solidFill>
                <a:latin typeface="Aptos"/>
              </a:rPr>
              <a:t>Paciente escolhe um horário disponível e confirma a marcação.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3429000"/>
            <a:ext cx="44439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72934"/>
                </a:solidFill>
                <a:latin typeface="Aptos"/>
              </a:rPr>
              <a:t>Resultado esperado: o agendamento é registrado e a confirmação aparece para o usuário.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423160"/>
            <a:ext cx="5230368" cy="1481328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8232" y="2587752"/>
            <a:ext cx="347472" cy="347472"/>
          </a:xfrm>
          <a:prstGeom prst="ellipse">
            <a:avLst/>
          </a:prstGeom>
          <a:solidFill>
            <a:srgbClr val="FFFFFF"/>
          </a:solidFill>
          <a:ln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2683763"/>
            <a:ext cx="3474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1" i="0">
                <a:solidFill>
                  <a:srgbClr val="56586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85432" y="2569464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72934"/>
                </a:solidFill>
                <a:latin typeface="Aptos Display"/>
              </a:rPr>
              <a:t>Conflito de horário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2935224"/>
            <a:ext cx="444398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0" i="0">
                <a:solidFill>
                  <a:srgbClr val="565862"/>
                </a:solidFill>
                <a:latin typeface="Aptos"/>
              </a:rPr>
              <a:t>Dois pacientes tentam marcar com o mesmo profissional, no mesmo horário.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5432" y="3429000"/>
            <a:ext cx="44439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72934"/>
                </a:solidFill>
                <a:latin typeface="Aptos"/>
              </a:rPr>
              <a:t>Resultado esperado: a segunda tentativa é bloqueada e o sistema avisa que o horário não está disponível.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87952"/>
            <a:ext cx="5230368" cy="1481328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2" y="4352544"/>
            <a:ext cx="347472" cy="347472"/>
          </a:xfrm>
          <a:prstGeom prst="ellipse">
            <a:avLst/>
          </a:prstGeom>
          <a:solidFill>
            <a:srgbClr val="FFFFFF"/>
          </a:solidFill>
          <a:ln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4448555"/>
            <a:ext cx="3474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1" i="0">
                <a:solidFill>
                  <a:srgbClr val="565862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7592" y="4334256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72934"/>
                </a:solidFill>
                <a:latin typeface="Aptos Display"/>
              </a:rPr>
              <a:t>Cancelamento e remarcação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07592" y="4700016"/>
            <a:ext cx="444398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0" i="0">
                <a:solidFill>
                  <a:srgbClr val="565862"/>
                </a:solidFill>
                <a:latin typeface="Aptos"/>
              </a:rPr>
              <a:t>Um agendamento existente é cancelado ou remarcado para outra data.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5193792"/>
            <a:ext cx="44439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72934"/>
                </a:solidFill>
                <a:latin typeface="Aptos"/>
              </a:rPr>
              <a:t>Resultado esperado: o status é atualizado, o horário é liberado e nenhum registro fica duplicado.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187952"/>
            <a:ext cx="5230368" cy="1481328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8232" y="4352544"/>
            <a:ext cx="347472" cy="347472"/>
          </a:xfrm>
          <a:prstGeom prst="ellipse">
            <a:avLst/>
          </a:prstGeom>
          <a:solidFill>
            <a:srgbClr val="FFFFFF"/>
          </a:solidFill>
          <a:ln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4448555"/>
            <a:ext cx="3474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1" i="0">
                <a:solidFill>
                  <a:srgbClr val="565862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85432" y="4334256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72934"/>
                </a:solidFill>
                <a:latin typeface="Aptos Display"/>
              </a:rPr>
              <a:t>Acesso por perfil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85432" y="4700016"/>
            <a:ext cx="444398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0" i="0">
                <a:solidFill>
                  <a:srgbClr val="565862"/>
                </a:solidFill>
                <a:latin typeface="Aptos"/>
              </a:rPr>
              <a:t>Um usuário tenta acessar informações fora do seu perfil de permissão.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85432" y="5193792"/>
            <a:ext cx="44439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72934"/>
                </a:solidFill>
                <a:latin typeface="Aptos"/>
              </a:rPr>
              <a:t>Resultado esperado: o acesso é negado e a informação não é exposta.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1792" y="6501384"/>
            <a:ext cx="11146536" cy="0"/>
          </a:xfrm>
          <a:prstGeom prst="line">
            <a:avLst/>
          </a:prstGeom>
          <a:ln w="1016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30936" y="6547104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87984"/>
                </a:solidFill>
                <a:latin typeface="Aptos"/>
              </a:rPr>
              <a:t>Clínica-Tech · Projeto de Perfil Profissional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21440" y="6547104"/>
            <a:ext cx="2560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87984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438912"/>
            <a:ext cx="2194560" cy="310896"/>
          </a:xfrm>
          <a:prstGeom prst="roundRect">
            <a:avLst/>
          </a:prstGeom>
          <a:solidFill>
            <a:srgbClr val="E7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507492"/>
            <a:ext cx="1920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65862"/>
                </a:solidFill>
                <a:latin typeface="Aptos"/>
              </a:rPr>
              <a:t>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969264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272934"/>
                </a:solidFill>
                <a:latin typeface="Aptos Display"/>
              </a:rPr>
              <a:t>Proposta de postagem profissional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847088"/>
            <a:ext cx="7479792" cy="4224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61872" y="2148840"/>
            <a:ext cx="566928" cy="566928"/>
          </a:xfrm>
          <a:prstGeom prst="ellipse">
            <a:avLst/>
          </a:prstGeom>
          <a:solidFill>
            <a:srgbClr val="E9EEF4"/>
          </a:solidFill>
          <a:ln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93392" y="2176272"/>
            <a:ext cx="32918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272934"/>
                </a:solidFill>
                <a:latin typeface="Aptos"/>
              </a:rPr>
              <a:t>Thiago Moura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246888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0" i="0">
                <a:solidFill>
                  <a:srgbClr val="747681"/>
                </a:solidFill>
                <a:latin typeface="Aptos"/>
              </a:rPr>
              <a:t>Banco de Dados + QA/Testes · Clínica-Tech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4032" y="224942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0A66C2"/>
                </a:solidFill>
                <a:latin typeface="Aptos"/>
              </a:rPr>
              <a:t>+ Seguir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944368"/>
            <a:ext cx="6748272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9" b="0" i="0">
                <a:solidFill>
                  <a:srgbClr val="4A4C56"/>
                </a:solidFill>
                <a:latin typeface="Aptos"/>
              </a:rPr>
              <a:t>🩺 Projeto Clínica-Tech: consistência nos agendamentos, do banco de dados aos testes
Nas últimas semanas, atuei nas frentes de Banco de Dados e QA/Testes do projeto Clínica-Tech, uma solução pensada para centralizar o gerenciamento de uma rede de clínicas populares.
Do lado do banco de dados, o desafio foi estruturar entidades como pacientes, profissionais, unidades e agendamentos de forma que os relacionamentos entre elas garantissem consistência — sem duplicidade de cadastros e, principalmente, sem conflitos de horário entre um mesmo profissional e diferentes pacientes.
Do lado de QA, o trabalho foi validar se esse comportamento realmente acontecia na prática: criei casos de teste cobrindo cenários como agendamento em horário disponível, tentativa de marcação em horário já ocupado, cancelamento e remarcação de consultas, além de restrição de acesso conforme o perfil do usuário.
Foi uma boa lembrança de que qualidade de software não é só "testar telas" — começa na forma como os dados são organizados desde a base.
#QA #BancoDeDados #Testes #ProjetoAcademico #ClinicaTech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61872" y="5632704"/>
            <a:ext cx="6821424" cy="0"/>
          </a:xfrm>
          <a:prstGeom prst="line">
            <a:avLst/>
          </a:prstGeom>
          <a:ln w="10160">
            <a:solidFill>
              <a:srgbClr val="DE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514600" y="57424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272934"/>
                </a:solidFill>
                <a:latin typeface="Aptos"/>
              </a:rPr>
              <a:t>Gostar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57424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272934"/>
                </a:solidFill>
                <a:latin typeface="Aptos"/>
              </a:rPr>
              <a:t>Comentar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57424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272934"/>
                </a:solidFill>
                <a:latin typeface="Aptos"/>
              </a:rPr>
              <a:t>Compartilhar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57424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0">
                <a:solidFill>
                  <a:srgbClr val="272934"/>
                </a:solidFill>
                <a:latin typeface="Aptos"/>
              </a:rPr>
              <a:t>Enviar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847088"/>
            <a:ext cx="2578608" cy="4224528"/>
          </a:xfrm>
          <a:prstGeom prst="roundRect">
            <a:avLst/>
          </a:prstGeom>
          <a:solidFill>
            <a:srgbClr val="F1F1F5"/>
          </a:solidFill>
          <a:ln w="12700">
            <a:solidFill>
              <a:srgbClr val="CACB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4272" y="22128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72934"/>
                </a:solidFill>
                <a:latin typeface="Aptos Display"/>
              </a:rPr>
              <a:t>O post contempla</a:t>
            </a:r>
          </a:p>
        </p:txBody>
      </p:sp>
      <p:sp>
        <p:nvSpPr>
          <p:cNvPr id="18" name="Diamond 17"/>
          <p:cNvSpPr/>
          <p:nvPr/>
        </p:nvSpPr>
        <p:spPr>
          <a:xfrm>
            <a:off x="9025128" y="2852928"/>
            <a:ext cx="283464" cy="283464"/>
          </a:xfrm>
          <a:prstGeom prst="diamond">
            <a:avLst/>
          </a:prstGeom>
          <a:solidFill>
            <a:srgbClr val="DDF4EE"/>
          </a:solidFill>
          <a:ln>
            <a:solidFill>
              <a:srgbClr val="13B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2843784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 i="0">
                <a:solidFill>
                  <a:srgbClr val="272934"/>
                </a:solidFill>
                <a:latin typeface="Aptos"/>
              </a:rPr>
              <a:t>Banco de Dados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163824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65862"/>
                </a:solidFill>
                <a:latin typeface="Aptos"/>
              </a:rPr>
              <a:t>entidades e relacionamentos</a:t>
            </a:r>
          </a:p>
        </p:txBody>
      </p:sp>
      <p:sp>
        <p:nvSpPr>
          <p:cNvPr id="21" name="Oval 20"/>
          <p:cNvSpPr/>
          <p:nvPr/>
        </p:nvSpPr>
        <p:spPr>
          <a:xfrm>
            <a:off x="9025128" y="3639312"/>
            <a:ext cx="283464" cy="283464"/>
          </a:xfrm>
          <a:prstGeom prst="ellipse">
            <a:avLst/>
          </a:prstGeom>
          <a:solidFill>
            <a:srgbClr val="DDF4EE"/>
          </a:solidFill>
          <a:ln>
            <a:solidFill>
              <a:srgbClr val="13B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3630168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 i="0">
                <a:solidFill>
                  <a:srgbClr val="272934"/>
                </a:solidFill>
                <a:latin typeface="Aptos"/>
              </a:rPr>
              <a:t>Consistência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39502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65862"/>
                </a:solidFill>
                <a:latin typeface="Aptos"/>
              </a:rPr>
              <a:t>sem duplicidade e conflitos</a:t>
            </a:r>
          </a:p>
        </p:txBody>
      </p:sp>
      <p:sp>
        <p:nvSpPr>
          <p:cNvPr id="24" name="Hexagon 23"/>
          <p:cNvSpPr/>
          <p:nvPr/>
        </p:nvSpPr>
        <p:spPr>
          <a:xfrm>
            <a:off x="9025128" y="4425696"/>
            <a:ext cx="283464" cy="283464"/>
          </a:xfrm>
          <a:prstGeom prst="hexagon">
            <a:avLst/>
          </a:prstGeom>
          <a:solidFill>
            <a:srgbClr val="DDF4EE"/>
          </a:solidFill>
          <a:ln>
            <a:solidFill>
              <a:srgbClr val="13B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4416552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 i="0">
                <a:solidFill>
                  <a:srgbClr val="272934"/>
                </a:solidFill>
                <a:latin typeface="Aptos"/>
              </a:rPr>
              <a:t>QA / Testes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473659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65862"/>
                </a:solidFill>
                <a:latin typeface="Aptos"/>
              </a:rPr>
              <a:t>cenários positivos e negativos</a:t>
            </a:r>
          </a:p>
        </p:txBody>
      </p:sp>
      <p:sp>
        <p:nvSpPr>
          <p:cNvPr id="27" name="5-Point Star 26"/>
          <p:cNvSpPr/>
          <p:nvPr/>
        </p:nvSpPr>
        <p:spPr>
          <a:xfrm>
            <a:off x="9025128" y="5212080"/>
            <a:ext cx="283464" cy="283464"/>
          </a:xfrm>
          <a:prstGeom prst="star5">
            <a:avLst/>
          </a:prstGeom>
          <a:solidFill>
            <a:srgbClr val="DDF4EE"/>
          </a:solidFill>
          <a:ln>
            <a:solidFill>
              <a:srgbClr val="13B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5202936"/>
            <a:ext cx="15910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1" i="0">
                <a:solidFill>
                  <a:srgbClr val="272934"/>
                </a:solidFill>
                <a:latin typeface="Aptos"/>
              </a:rPr>
              <a:t>Qualidade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5522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65862"/>
                </a:solidFill>
                <a:latin typeface="Aptos"/>
              </a:rPr>
              <a:t>dados organizados desde a base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21792" y="6501384"/>
            <a:ext cx="11146536" cy="0"/>
          </a:xfrm>
          <a:prstGeom prst="line">
            <a:avLst/>
          </a:prstGeom>
          <a:ln w="10160">
            <a:solidFill>
              <a:srgbClr val="CACB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6547104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87984"/>
                </a:solidFill>
                <a:latin typeface="Aptos"/>
              </a:rPr>
              <a:t>Clínica-Tech · Projeto de Perfil Profissional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547104"/>
            <a:ext cx="2560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787984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2026-09-17T15:22:35Z</dcterms:created>
  <dcterms:modified xsi:type="dcterms:W3CDTF">2026-09-17T15:22:35Z</dcterms:modified>
</cp:coreProperties>
</file>