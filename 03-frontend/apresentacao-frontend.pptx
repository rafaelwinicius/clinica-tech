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4"/>
    <p:sldId id="257" r:id="rId3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slide" Target="slides/slide2.xml"/><Relationship Id="rId4" Type="http://schemas.openxmlformats.org/officeDocument/2006/relationships/slide" Target="slides/slide1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73952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Clínica-Tech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966960" y="647395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Projeto acadêmico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38912"/>
            <a:ext cx="108813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</a:rPr>
              <a:t>Front-end: o que o usuário verá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941832"/>
            <a:ext cx="106070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>
                <a:solidFill>
                  <a:srgbClr val="475569"/>
                </a:solidFill>
              </a:rPr>
              <a:t>Do requisito ao fluxo de UX/UI e, então, às telas no navegador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81328"/>
            <a:ext cx="224028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822960" y="1664208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563EB"/>
                </a:solidFill>
              </a:rPr>
              <a:t>Requisito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56816"/>
            <a:ext cx="1965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</a:rPr>
              <a:t>PO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46120" y="1481328"/>
            <a:ext cx="224028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3383279" y="1664208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4B8A6"/>
                </a:solidFill>
              </a:rPr>
              <a:t>Fluxo e tela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79" y="1956816"/>
            <a:ext cx="1965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</a:rPr>
              <a:t>UX/UI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06440" y="1481328"/>
            <a:ext cx="224028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943600" y="1664208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766E"/>
                </a:solidFill>
              </a:rPr>
              <a:t>Telas no navegador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1956816"/>
            <a:ext cx="1965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</a:rPr>
              <a:t>Front-end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66760" y="1481328"/>
            <a:ext cx="224028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503920" y="1664208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</a:rPr>
              <a:t>Dados e regras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1956816"/>
            <a:ext cx="1965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</a:rPr>
              <a:t>Back-end</a:t>
            </a:r>
          </a:p>
        </p:txBody>
      </p:sp>
      <p:sp>
        <p:nvSpPr>
          <p:cNvPr id="16" name="Chevron 15"/>
          <p:cNvSpPr/>
          <p:nvPr/>
        </p:nvSpPr>
        <p:spPr>
          <a:xfrm>
            <a:off x="2999232" y="1764792"/>
            <a:ext cx="310896" cy="310896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hevron 16"/>
          <p:cNvSpPr/>
          <p:nvPr/>
        </p:nvSpPr>
        <p:spPr>
          <a:xfrm>
            <a:off x="5559552" y="1764792"/>
            <a:ext cx="310896" cy="310896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hevron 17"/>
          <p:cNvSpPr/>
          <p:nvPr/>
        </p:nvSpPr>
        <p:spPr>
          <a:xfrm>
            <a:off x="8119872" y="1764792"/>
            <a:ext cx="310896" cy="310896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85800" y="2606040"/>
            <a:ext cx="5120640" cy="32004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524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60120" y="2852928"/>
            <a:ext cx="4572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2563EB"/>
                </a:solidFill>
              </a:rPr>
              <a:t>Site público — sem login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3163824"/>
            <a:ext cx="4572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</a:rPr>
              <a:t>Paciente e público geral (RN13)</a:t>
            </a:r>
          </a:p>
        </p:txBody>
      </p:sp>
      <p:sp>
        <p:nvSpPr>
          <p:cNvPr id="22" name="Oval 21"/>
          <p:cNvSpPr/>
          <p:nvPr/>
        </p:nvSpPr>
        <p:spPr>
          <a:xfrm>
            <a:off x="987552" y="3621024"/>
            <a:ext cx="137160" cy="13716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61872" y="3584448"/>
            <a:ext cx="4343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0F172A"/>
                </a:solidFill>
              </a:rPr>
              <a:t>Página inicial: serviços, WhatsApp e telefone</a:t>
            </a:r>
          </a:p>
        </p:txBody>
      </p:sp>
      <p:sp>
        <p:nvSpPr>
          <p:cNvPr id="24" name="Oval 23"/>
          <p:cNvSpPr/>
          <p:nvPr/>
        </p:nvSpPr>
        <p:spPr>
          <a:xfrm>
            <a:off x="987552" y="4151376"/>
            <a:ext cx="137160" cy="13716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61872" y="4114800"/>
            <a:ext cx="4343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0F172A"/>
                </a:solidFill>
              </a:rPr>
              <a:t>Unidades: endereço, horário e contato</a:t>
            </a:r>
          </a:p>
        </p:txBody>
      </p:sp>
      <p:sp>
        <p:nvSpPr>
          <p:cNvPr id="26" name="Oval 25"/>
          <p:cNvSpPr/>
          <p:nvPr/>
        </p:nvSpPr>
        <p:spPr>
          <a:xfrm>
            <a:off x="987552" y="4681728"/>
            <a:ext cx="137160" cy="13716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61872" y="4645152"/>
            <a:ext cx="4343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0F172A"/>
                </a:solidFill>
              </a:rPr>
              <a:t>Profissionais e especialidades por unidade</a:t>
            </a:r>
          </a:p>
        </p:txBody>
      </p:sp>
      <p:sp>
        <p:nvSpPr>
          <p:cNvPr id="28" name="Oval 27"/>
          <p:cNvSpPr/>
          <p:nvPr/>
        </p:nvSpPr>
        <p:spPr>
          <a:xfrm>
            <a:off x="987552" y="5212080"/>
            <a:ext cx="137160" cy="13716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61872" y="5175504"/>
            <a:ext cx="4343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0F172A"/>
                </a:solidFill>
              </a:rPr>
              <a:t>Como agendar: passo a passo pelo WhatsApp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" y="5504688"/>
            <a:ext cx="4572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</a:rPr>
              <a:t>Não exibe dados de paciente nem a agenda interna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080760" y="2606040"/>
            <a:ext cx="5394960" cy="3200400"/>
          </a:xfrm>
          <a:prstGeom prst="roundRect">
            <a:avLst>
              <a:gd name="adj" fmla="val 3000"/>
            </a:avLst>
          </a:prstGeom>
          <a:solidFill>
            <a:srgbClr val="ECFDF5"/>
          </a:solidFill>
          <a:ln w="15240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6355080" y="2852928"/>
            <a:ext cx="48463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0F766E"/>
                </a:solidFill>
              </a:rPr>
              <a:t>Ambiente administrativo — com login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5080" y="3163824"/>
            <a:ext cx="4846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</a:rPr>
              <a:t>Secretária, profissional, gerente e gestão (RF16 e RF17)</a:t>
            </a:r>
          </a:p>
        </p:txBody>
      </p:sp>
      <p:sp>
        <p:nvSpPr>
          <p:cNvPr id="34" name="Oval 33"/>
          <p:cNvSpPr/>
          <p:nvPr/>
        </p:nvSpPr>
        <p:spPr>
          <a:xfrm>
            <a:off x="6382512" y="3584448"/>
            <a:ext cx="137160" cy="13716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56832" y="3547872"/>
            <a:ext cx="46177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0F172A"/>
                </a:solidFill>
              </a:rPr>
              <a:t>Agenda do dia: filtro por data, profissional e unidade</a:t>
            </a:r>
          </a:p>
        </p:txBody>
      </p:sp>
      <p:sp>
        <p:nvSpPr>
          <p:cNvPr id="36" name="Oval 35"/>
          <p:cNvSpPr/>
          <p:nvPr/>
        </p:nvSpPr>
        <p:spPr>
          <a:xfrm>
            <a:off x="6382512" y="4005072"/>
            <a:ext cx="137160" cy="13716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56832" y="3968496"/>
            <a:ext cx="46177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0F172A"/>
                </a:solidFill>
              </a:rPr>
              <a:t>Busca e cadastro de paciente (RF06)</a:t>
            </a:r>
          </a:p>
        </p:txBody>
      </p:sp>
      <p:sp>
        <p:nvSpPr>
          <p:cNvPr id="38" name="Oval 37"/>
          <p:cNvSpPr/>
          <p:nvPr/>
        </p:nvSpPr>
        <p:spPr>
          <a:xfrm>
            <a:off x="6382512" y="4425696"/>
            <a:ext cx="137160" cy="13716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656832" y="4389120"/>
            <a:ext cx="46177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0F172A"/>
                </a:solidFill>
              </a:rPr>
              <a:t>Disponibilidade e novo agendamento (RF07)</a:t>
            </a:r>
          </a:p>
        </p:txBody>
      </p:sp>
      <p:sp>
        <p:nvSpPr>
          <p:cNvPr id="40" name="Oval 39"/>
          <p:cNvSpPr/>
          <p:nvPr/>
        </p:nvSpPr>
        <p:spPr>
          <a:xfrm>
            <a:off x="6382512" y="4846320"/>
            <a:ext cx="137160" cy="13716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56832" y="4809744"/>
            <a:ext cx="46177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0F172A"/>
                </a:solidFill>
              </a:rPr>
              <a:t>Cancelar, remarcar e registrar o resultado (RF08 e RF13)</a:t>
            </a:r>
          </a:p>
        </p:txBody>
      </p:sp>
      <p:sp>
        <p:nvSpPr>
          <p:cNvPr id="42" name="Oval 41"/>
          <p:cNvSpPr/>
          <p:nvPr/>
        </p:nvSpPr>
        <p:spPr>
          <a:xfrm>
            <a:off x="6382512" y="5266944"/>
            <a:ext cx="137160" cy="13716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656832" y="5230368"/>
            <a:ext cx="46177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0F172A"/>
                </a:solidFill>
              </a:rPr>
              <a:t>Minha agenda e bloqueio, para o profissional (RF10 e RF11)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55080" y="5532120"/>
            <a:ext cx="4846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</a:rPr>
              <a:t>Cada perfil vê apenas as ações que pode executar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" y="6016752"/>
            <a:ext cx="103327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>
                <a:solidFill>
                  <a:srgbClr val="475569"/>
                </a:solidFill>
              </a:rPr>
              <a:t>Duas finalidades diferentes: informar o paciente e operar a agenda da rede.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38912"/>
            <a:ext cx="108813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</a:rPr>
              <a:t>Como o front-end estrutura a solução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941832"/>
            <a:ext cx="106070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>
                <a:solidFill>
                  <a:srgbClr val="475569"/>
                </a:solidFill>
              </a:rPr>
              <a:t>HTML semântico, formulários claros e acessibilidade desde o início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63040"/>
            <a:ext cx="3154680" cy="31546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524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841247" y="1709928"/>
            <a:ext cx="26517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0F766E"/>
                </a:solidFill>
              </a:rPr>
              <a:t>HTML semântico</a:t>
            </a:r>
          </a:p>
        </p:txBody>
      </p:sp>
      <p:sp>
        <p:nvSpPr>
          <p:cNvPr id="6" name="Oval 5"/>
          <p:cNvSpPr/>
          <p:nvPr/>
        </p:nvSpPr>
        <p:spPr>
          <a:xfrm>
            <a:off x="868680" y="2194560"/>
            <a:ext cx="118872" cy="11887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" y="2148840"/>
            <a:ext cx="2423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</a:rPr>
              <a:t>header, nav, main, section e footer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779776"/>
            <a:ext cx="118872" cy="11887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" y="2734056"/>
            <a:ext cx="2423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</a:rPr>
              <a:t>table com caption e th na agenda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3364992"/>
            <a:ext cx="118872" cy="11887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" y="3319272"/>
            <a:ext cx="2423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</a:rPr>
              <a:t>títulos em hierarquia, sem pular níveis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3950208"/>
            <a:ext cx="118872" cy="11887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5568" y="3904488"/>
            <a:ext cx="2423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</a:rPr>
              <a:t>estrutura que também serve ao leitor de tela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60520" y="1463040"/>
            <a:ext cx="3154680" cy="31546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524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361688" y="1709928"/>
            <a:ext cx="26517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2563EB"/>
                </a:solidFill>
              </a:rPr>
              <a:t>Formulários</a:t>
            </a:r>
          </a:p>
        </p:txBody>
      </p:sp>
      <p:sp>
        <p:nvSpPr>
          <p:cNvPr id="16" name="Oval 15"/>
          <p:cNvSpPr/>
          <p:nvPr/>
        </p:nvSpPr>
        <p:spPr>
          <a:xfrm>
            <a:off x="4389120" y="2194560"/>
            <a:ext cx="118872" cy="11887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36008" y="2148840"/>
            <a:ext cx="2423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</a:rPr>
              <a:t>label visível e associado a cada campo</a:t>
            </a:r>
          </a:p>
        </p:txBody>
      </p:sp>
      <p:sp>
        <p:nvSpPr>
          <p:cNvPr id="18" name="Oval 17"/>
          <p:cNvSpPr/>
          <p:nvPr/>
        </p:nvSpPr>
        <p:spPr>
          <a:xfrm>
            <a:off x="4389120" y="2779776"/>
            <a:ext cx="118872" cy="11887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36008" y="2734056"/>
            <a:ext cx="2423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</a:rPr>
              <a:t>obrigatório indicado por texto, não só por cor</a:t>
            </a:r>
          </a:p>
        </p:txBody>
      </p:sp>
      <p:sp>
        <p:nvSpPr>
          <p:cNvPr id="20" name="Oval 19"/>
          <p:cNvSpPr/>
          <p:nvPr/>
        </p:nvSpPr>
        <p:spPr>
          <a:xfrm>
            <a:off x="4389120" y="3364992"/>
            <a:ext cx="118872" cy="11887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36008" y="3319272"/>
            <a:ext cx="2423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</a:rPr>
              <a:t>erro explica como corrigir e mantém o preenchido</a:t>
            </a:r>
          </a:p>
        </p:txBody>
      </p:sp>
      <p:sp>
        <p:nvSpPr>
          <p:cNvPr id="22" name="Oval 21"/>
          <p:cNvSpPr/>
          <p:nvPr/>
        </p:nvSpPr>
        <p:spPr>
          <a:xfrm>
            <a:off x="4389120" y="3950208"/>
            <a:ext cx="118872" cy="11887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36008" y="3904488"/>
            <a:ext cx="2423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</a:rPr>
              <a:t>confirmação antes de cancelar uma consulta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680960" y="1463040"/>
            <a:ext cx="3154680" cy="31546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524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882128" y="1709928"/>
            <a:ext cx="26517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D97706"/>
                </a:solidFill>
              </a:rPr>
              <a:t>Acessibilidade</a:t>
            </a:r>
          </a:p>
        </p:txBody>
      </p:sp>
      <p:sp>
        <p:nvSpPr>
          <p:cNvPr id="26" name="Oval 25"/>
          <p:cNvSpPr/>
          <p:nvPr/>
        </p:nvSpPr>
        <p:spPr>
          <a:xfrm>
            <a:off x="7909560" y="2194560"/>
            <a:ext cx="118872" cy="11887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56448" y="2148840"/>
            <a:ext cx="2423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</a:rPr>
              <a:t>navegação por teclado com foco visível</a:t>
            </a:r>
          </a:p>
        </p:txBody>
      </p:sp>
      <p:sp>
        <p:nvSpPr>
          <p:cNvPr id="28" name="Oval 27"/>
          <p:cNvSpPr/>
          <p:nvPr/>
        </p:nvSpPr>
        <p:spPr>
          <a:xfrm>
            <a:off x="7909560" y="2779776"/>
            <a:ext cx="118872" cy="11887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56448" y="2734056"/>
            <a:ext cx="2423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</a:rPr>
              <a:t>contraste e fonte confortável (público idoso)</a:t>
            </a:r>
          </a:p>
        </p:txBody>
      </p:sp>
      <p:sp>
        <p:nvSpPr>
          <p:cNvPr id="30" name="Oval 29"/>
          <p:cNvSpPr/>
          <p:nvPr/>
        </p:nvSpPr>
        <p:spPr>
          <a:xfrm>
            <a:off x="7909560" y="3364992"/>
            <a:ext cx="118872" cy="11887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56448" y="3319272"/>
            <a:ext cx="2423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</a:rPr>
              <a:t>status por texto + cor: Agendada, Cancelada</a:t>
            </a:r>
          </a:p>
        </p:txBody>
      </p:sp>
      <p:sp>
        <p:nvSpPr>
          <p:cNvPr id="32" name="Oval 31"/>
          <p:cNvSpPr/>
          <p:nvPr/>
        </p:nvSpPr>
        <p:spPr>
          <a:xfrm>
            <a:off x="7909560" y="3950208"/>
            <a:ext cx="118872" cy="11887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56448" y="3904488"/>
            <a:ext cx="2423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</a:rPr>
              <a:t>mesma estrutura no computador e no celular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" y="4773168"/>
            <a:ext cx="11018520" cy="566928"/>
          </a:xfrm>
          <a:prstGeom prst="roundRect">
            <a:avLst>
              <a:gd name="adj" fmla="val 9000"/>
            </a:avLst>
          </a:prstGeom>
          <a:solidFill>
            <a:srgbClr val="FFF7ED"/>
          </a:solidFill>
          <a:ln w="12700">
            <a:solidFill>
              <a:srgbClr val="FED7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896112" y="4901184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D97706"/>
                </a:solidFill>
              </a:rPr>
              <a:t>Cuidado registrado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063240" y="4901184"/>
            <a:ext cx="83210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</a:rPr>
              <a:t>Esconder um botão não é controle de acesso: a tela reflete a permissão, mas quem autoriza é o back-end (RNF01).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5468112"/>
            <a:ext cx="11018520" cy="868680"/>
          </a:xfrm>
          <a:prstGeom prst="roundRect">
            <a:avLst>
              <a:gd name="adj" fmla="val 6000"/>
            </a:avLst>
          </a:prstGeom>
          <a:solidFill>
            <a:srgbClr val="ECFDF5"/>
          </a:solidFill>
          <a:ln w="12700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96112" y="5669280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</a:rPr>
              <a:t>Postagem LinkedIn — ideia central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063240" y="5614416"/>
            <a:ext cx="83210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>
                <a:solidFill>
                  <a:srgbClr val="0F172A"/>
                </a:solidFill>
              </a:rPr>
              <a:t>“Interface não é só o que aparece na tela. É a forma como uma regra do negócio chega até a pessoa que vai usá-la.”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063240" y="6035040"/>
            <a:ext cx="8321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</a:rPr>
              <a:t>Entregas desta área: frontend.md  •  linkedin-frontend.md  •  apresentação do Front-end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Clínica-Tech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Clínica-Tech — PO e Requisitos</dc:title>
  <dc:subject>Apresentação do PO e Análise de Requisitos</dc:subject>
  <dc:creator>Clínica-Tech</dc:creator>
  <cp:lastModifiedBy>Clínica-Tech</cp:lastModifiedBy>
  <cp:revision>1</cp:revision>
  <dcterms:created xsi:type="dcterms:W3CDTF">2026-09-13T00:10:45Z</dcterms:created>
  <dcterms:modified xsi:type="dcterms:W3CDTF">2026-09-13T00:10:45Z</dcterms:modified>
</cp:coreProperties>
</file>