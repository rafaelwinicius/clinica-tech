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7"/>
    <p:sldId id="257" r:id="rId8"/>
    <p:sldId id="25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53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9786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A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6455664"/>
            <a:ext cx="11000232" cy="0"/>
          </a:xfrm>
          <a:prstGeom prst="line">
            <a:avLst/>
          </a:prstGeom>
          <a:noFill/>
          <a:ln w="8890">
            <a:solidFill>
              <a:srgbClr val="D7D8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6492240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7B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Clínica-Tech · Projeto de Perfil Profissional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6F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02920" cy="20116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D6F79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1115568" cy="274320"/>
          </a:xfrm>
          <a:prstGeom prst="roundRect">
            <a:avLst>
              <a:gd name="adj" fmla="val 20000"/>
            </a:avLst>
          </a:prstGeom>
          <a:solidFill>
            <a:srgbClr val="E6E6EE"/>
          </a:solidFill>
          <a:ln w="12700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493776"/>
            <a:ext cx="93268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40" b="0">
                <a:solidFill>
                  <a:srgbClr val="44454D"/>
                </a:solidFill>
                <a:latin typeface="Aptos"/>
              </a:rPr>
              <a:t>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>
                <a:solidFill>
                  <a:srgbClr val="24252E"/>
                </a:solidFill>
                <a:latin typeface="Aptos Display"/>
              </a:rPr>
              <a:t>O que o usuário verá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527048"/>
            <a:ext cx="6400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44454D"/>
                </a:solidFill>
                <a:latin typeface="Aptos"/>
              </a:rPr>
              <a:t>Cada tela nasce de um requisito do produto e de um fluxo aprovado em UX/UI.</a:t>
            </a:r>
          </a:p>
        </p:txBody>
      </p:sp>
      <p:pic>
        <p:nvPicPr>
          <p:cNvPr id="6" name="Picture 5" descr="ilustracao-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064" y="1572768"/>
            <a:ext cx="416966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70064" y="5870448"/>
            <a:ext cx="41696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77985"/>
                </a:solidFill>
                <a:latin typeface="Aptos"/>
              </a:rPr>
              <a:t>A mesma agenda, vista por quem atende e por quem gerencia.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48256"/>
            <a:ext cx="6309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24252E"/>
                </a:solidFill>
                <a:latin typeface="Aptos"/>
              </a:rPr>
              <a:t>SITE PÚBLICO</a:t>
            </a:r>
            <a:r>
              <a:rPr sz="860" b="0">
                <a:solidFill>
                  <a:srgbClr val="777985"/>
                </a:solidFill>
                <a:latin typeface="Aptos"/>
              </a:rPr>
              <a:t>   sem login · paciente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304288"/>
            <a:ext cx="630936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59152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80" b="0">
                <a:solidFill>
                  <a:srgbClr val="44454D"/>
                </a:solidFill>
                <a:latin typeface="Aptos"/>
              </a:rPr>
              <a:t>Página inicial — rede, WhatsApp e telefone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35915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RF01 · RF02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670048"/>
            <a:ext cx="630936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80" b="0">
                <a:solidFill>
                  <a:srgbClr val="44454D"/>
                </a:solidFill>
                <a:latin typeface="Aptos"/>
              </a:rPr>
              <a:t>Unidades — endereço, horário e contato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272491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35808"/>
            <a:ext cx="630936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90672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80" b="0">
                <a:solidFill>
                  <a:srgbClr val="44454D"/>
                </a:solidFill>
                <a:latin typeface="Aptos"/>
              </a:rPr>
              <a:t>Profissionais e especialidades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309067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401568"/>
            <a:ext cx="630936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456432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80" b="0">
                <a:solidFill>
                  <a:srgbClr val="44454D"/>
                </a:solidFill>
                <a:latin typeface="Aptos"/>
              </a:rPr>
              <a:t>Como agendar — passo a passo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33288" y="345643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767328"/>
            <a:ext cx="630936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41648"/>
            <a:ext cx="63093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24252E"/>
                </a:solidFill>
                <a:latin typeface="Aptos"/>
              </a:rPr>
              <a:t>AMBIENTE ADMINISTRATIVO</a:t>
            </a:r>
            <a:r>
              <a:rPr sz="860" b="0">
                <a:solidFill>
                  <a:srgbClr val="777985"/>
                </a:solidFill>
                <a:latin typeface="Aptos"/>
              </a:rPr>
              <a:t>   com login · equipe da rede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29768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352544"/>
            <a:ext cx="1783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40" b="0">
                <a:solidFill>
                  <a:srgbClr val="44454D"/>
                </a:solidFill>
                <a:latin typeface="Aptos"/>
              </a:rPr>
              <a:t>Login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41447" y="435254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66344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718304"/>
            <a:ext cx="1783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40" b="0">
                <a:solidFill>
                  <a:srgbClr val="44454D"/>
                </a:solidFill>
                <a:latin typeface="Aptos"/>
              </a:rPr>
              <a:t>Agenda do 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41447" y="47183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RF07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02920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084064"/>
            <a:ext cx="1783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40" b="0">
                <a:solidFill>
                  <a:srgbClr val="44454D"/>
                </a:solidFill>
                <a:latin typeface="Aptos"/>
              </a:rPr>
              <a:t>Busca e cadastro de paciente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7" y="508406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39496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449824"/>
            <a:ext cx="1783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40" b="0">
                <a:solidFill>
                  <a:srgbClr val="44454D"/>
                </a:solidFill>
                <a:latin typeface="Aptos"/>
              </a:rPr>
              <a:t>Nova consulta e disponibilidade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1447" y="544982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RF07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50207" y="429768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50207" y="4352544"/>
            <a:ext cx="1783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40" b="0">
                <a:solidFill>
                  <a:srgbClr val="44454D"/>
                </a:solidFill>
                <a:latin typeface="Aptos"/>
              </a:rPr>
              <a:t>Detalhe do agendamento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33288" y="435254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RF08 · RF13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50207" y="466344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50207" y="4718304"/>
            <a:ext cx="1783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40" b="0">
                <a:solidFill>
                  <a:srgbClr val="44454D"/>
                </a:solidFill>
                <a:latin typeface="Aptos"/>
              </a:rPr>
              <a:t>Minha agenda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33288" y="47183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RF10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50207" y="502920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50207" y="5084064"/>
            <a:ext cx="1783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40" b="0">
                <a:solidFill>
                  <a:srgbClr val="44454D"/>
                </a:solidFill>
                <a:latin typeface="Aptos"/>
              </a:rPr>
              <a:t>Solicitação de bloqueio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33288" y="508406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RF11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50207" y="539496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50207" y="5449824"/>
            <a:ext cx="17830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40" b="0">
                <a:solidFill>
                  <a:srgbClr val="44454D"/>
                </a:solidFill>
                <a:latin typeface="Aptos"/>
              </a:rPr>
              <a:t>Cadastros da rede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33288" y="544982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19" b="0">
                <a:solidFill>
                  <a:srgbClr val="777985"/>
                </a:solidFill>
                <a:latin typeface="Aptos"/>
              </a:rPr>
              <a:t>RF09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576072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50207" y="5760720"/>
            <a:ext cx="301752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9253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80" b="1">
                <a:solidFill>
                  <a:srgbClr val="24252E"/>
                </a:solidFill>
                <a:latin typeface="Aptos"/>
              </a:rPr>
              <a:t>12 telas. </a:t>
            </a:r>
            <a:r>
              <a:rPr sz="980" b="0">
                <a:solidFill>
                  <a:srgbClr val="777985"/>
                </a:solidFill>
                <a:latin typeface="Aptos"/>
              </a:rPr>
              <a:t>Requisito → fluxo de UX/UI → estrutura no navegador → dados do back-end.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1078992" cy="274320"/>
          </a:xfrm>
          <a:prstGeom prst="roundRect">
            <a:avLst>
              <a:gd name="adj" fmla="val 20000"/>
            </a:avLst>
          </a:prstGeom>
          <a:solidFill>
            <a:srgbClr val="E6E6EE"/>
          </a:solidFill>
          <a:ln w="12700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493776"/>
            <a:ext cx="89611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40" b="0">
                <a:solidFill>
                  <a:srgbClr val="44454D"/>
                </a:solidFill>
                <a:latin typeface="Aptos"/>
              </a:rPr>
              <a:t>ESTRUTURA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35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>
                <a:solidFill>
                  <a:srgbClr val="24252E"/>
                </a:solidFill>
                <a:latin typeface="Aptos Display"/>
              </a:rPr>
              <a:t>Como o front-end organiza 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527048"/>
            <a:ext cx="10469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44454D"/>
                </a:solidFill>
                <a:latin typeface="Aptos"/>
              </a:rPr>
              <a:t>A mesma informação, montada de forma que a pessoa entenda e a tecnologia assistiva também.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48256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4252E"/>
                </a:solidFill>
                <a:latin typeface="Aptos Display"/>
              </a:rPr>
              <a:t>Cada parte tem um lugar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450592"/>
            <a:ext cx="402336" cy="0"/>
          </a:xfrm>
          <a:prstGeom prst="rect">
            <a:avLst/>
          </a:prstGeom>
          <a:noFill/>
          <a:ln w="17780">
            <a:solidFill>
              <a:srgbClr val="2AB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651760"/>
            <a:ext cx="3017520" cy="2048256"/>
          </a:xfrm>
          <a:prstGeom prst="roundRect">
            <a:avLst>
              <a:gd name="adj" fmla="val 3500"/>
            </a:avLst>
          </a:prstGeom>
          <a:noFill/>
          <a:ln w="10160">
            <a:solidFill>
              <a:srgbClr val="C7C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779776"/>
            <a:ext cx="2724912" cy="310896"/>
          </a:xfrm>
          <a:prstGeom prst="roundRect">
            <a:avLst>
              <a:gd name="adj" fmla="val 12000"/>
            </a:avLst>
          </a:prstGeom>
          <a:solidFill>
            <a:srgbClr val="F0F0F4"/>
          </a:solidFill>
          <a:ln w="8890">
            <a:solidFill>
              <a:srgbClr val="C7C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779776"/>
            <a:ext cx="246887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>
                <a:solidFill>
                  <a:srgbClr val="777985"/>
                </a:solidFill>
                <a:latin typeface="Aptos"/>
              </a:rPr>
              <a:t>topo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3145536"/>
            <a:ext cx="2724912" cy="237744"/>
          </a:xfrm>
          <a:prstGeom prst="roundRect">
            <a:avLst>
              <a:gd name="adj" fmla="val 12000"/>
            </a:avLst>
          </a:prstGeom>
          <a:solidFill>
            <a:srgbClr val="F0F0F4"/>
          </a:solidFill>
          <a:ln w="8890">
            <a:solidFill>
              <a:srgbClr val="C7C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145536"/>
            <a:ext cx="24688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>
                <a:solidFill>
                  <a:srgbClr val="777985"/>
                </a:solidFill>
                <a:latin typeface="Aptos"/>
              </a:rPr>
              <a:t>menu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438144"/>
            <a:ext cx="2724912" cy="932688"/>
          </a:xfrm>
          <a:prstGeom prst="roundRect">
            <a:avLst>
              <a:gd name="adj" fmla="val 12000"/>
            </a:avLst>
          </a:prstGeom>
          <a:noFill/>
          <a:ln w="8890">
            <a:solidFill>
              <a:srgbClr val="2AB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438144"/>
            <a:ext cx="2468879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>
                <a:solidFill>
                  <a:srgbClr val="1A8E7A"/>
                </a:solidFill>
                <a:latin typeface="Aptos"/>
              </a:rPr>
              <a:t>conteúdo principal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" y="4425696"/>
            <a:ext cx="2724912" cy="237744"/>
          </a:xfrm>
          <a:prstGeom prst="roundRect">
            <a:avLst>
              <a:gd name="adj" fmla="val 12000"/>
            </a:avLst>
          </a:prstGeom>
          <a:solidFill>
            <a:srgbClr val="F0F0F4"/>
          </a:solidFill>
          <a:ln w="8890">
            <a:solidFill>
              <a:srgbClr val="C7C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425696"/>
            <a:ext cx="246887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>
                <a:solidFill>
                  <a:srgbClr val="777985"/>
                </a:solidFill>
                <a:latin typeface="Aptos"/>
              </a:rPr>
              <a:t>rodapé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80974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777985"/>
                </a:solidFill>
                <a:latin typeface="Aptos"/>
              </a:rPr>
              <a:t>A página é marcada por partes — é isso que o leitor de tela consegue anunciar.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41648" y="2048256"/>
            <a:ext cx="0" cy="301752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20482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4252E"/>
                </a:solidFill>
                <a:latin typeface="Aptos Display"/>
              </a:rPr>
              <a:t>Formulários que não confundem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2544" y="2450592"/>
            <a:ext cx="402336" cy="0"/>
          </a:xfrm>
          <a:prstGeom prst="rect">
            <a:avLst/>
          </a:prstGeom>
          <a:noFill/>
          <a:ln w="17780">
            <a:solidFill>
              <a:srgbClr val="2AB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2544" y="272491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80" b="0">
                <a:solidFill>
                  <a:srgbClr val="44454D"/>
                </a:solidFill>
                <a:latin typeface="Aptos"/>
              </a:rPr>
              <a:t>todo campo tem um rótulo visível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52544" y="3145536"/>
            <a:ext cx="320040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2544" y="327355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80" b="0">
                <a:solidFill>
                  <a:srgbClr val="44454D"/>
                </a:solidFill>
                <a:latin typeface="Aptos"/>
              </a:rPr>
              <a:t>obrigatório é dito por escrito, não só por cor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3694176"/>
            <a:ext cx="320040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3822191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80" b="0">
                <a:solidFill>
                  <a:srgbClr val="44454D"/>
                </a:solidFill>
                <a:latin typeface="Aptos"/>
              </a:rPr>
              <a:t>o erro explica como corrigir e não apaga o preenchido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52544" y="4242816"/>
            <a:ext cx="320040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52544" y="4370831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80" b="0">
                <a:solidFill>
                  <a:srgbClr val="44454D"/>
                </a:solidFill>
                <a:latin typeface="Aptos"/>
              </a:rPr>
              <a:t>cancelar uma consulta pede confirmação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52544" y="4791455"/>
            <a:ext cx="320040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1583" y="20482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4252E"/>
                </a:solidFill>
                <a:latin typeface="Aptos Display"/>
              </a:rPr>
              <a:t>Acessível desde o início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1583" y="2450592"/>
            <a:ext cx="402336" cy="0"/>
          </a:xfrm>
          <a:prstGeom prst="rect">
            <a:avLst/>
          </a:prstGeom>
          <a:noFill/>
          <a:ln w="17780">
            <a:solidFill>
              <a:srgbClr val="2AB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1583" y="272491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80" b="0">
                <a:solidFill>
                  <a:srgbClr val="44454D"/>
                </a:solidFill>
                <a:latin typeface="Aptos"/>
              </a:rPr>
              <a:t>dá para usar só com o teclado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01583" y="3145536"/>
            <a:ext cx="320040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01583" y="327355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80" b="0">
                <a:solidFill>
                  <a:srgbClr val="44454D"/>
                </a:solidFill>
                <a:latin typeface="Aptos"/>
              </a:rPr>
              <a:t>contraste e letra confortável — público idoso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01583" y="3694176"/>
            <a:ext cx="320040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01583" y="3822191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80" b="0">
                <a:solidFill>
                  <a:srgbClr val="44454D"/>
                </a:solidFill>
                <a:latin typeface="Aptos"/>
              </a:rPr>
              <a:t>status escrito: Agendada, Cancelada, Realizada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01583" y="4242816"/>
            <a:ext cx="320040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01583" y="4370831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80" b="0">
                <a:solidFill>
                  <a:srgbClr val="44454D"/>
                </a:solidFill>
                <a:latin typeface="Aptos"/>
              </a:rPr>
              <a:t>funciona no computador e no celular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01583" y="4791455"/>
            <a:ext cx="3200400" cy="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90688" y="2048256"/>
            <a:ext cx="0" cy="3017520"/>
          </a:xfrm>
          <a:prstGeom prst="rect">
            <a:avLst/>
          </a:prstGeom>
          <a:noFill/>
          <a:ln w="9525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58368" y="5358384"/>
            <a:ext cx="10881360" cy="786384"/>
          </a:xfrm>
          <a:prstGeom prst="roundRect">
            <a:avLst>
              <a:gd name="adj" fmla="val 6000"/>
            </a:avLst>
          </a:prstGeom>
          <a:solidFill>
            <a:srgbClr val="24252E"/>
          </a:solidFill>
          <a:ln w="12700">
            <a:solidFill>
              <a:srgbClr val="24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9264" y="55229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0">
                <a:solidFill>
                  <a:srgbClr val="D7D8E1"/>
                </a:solidFill>
                <a:latin typeface="Aptos"/>
              </a:rPr>
              <a:t>CUIDADO REGISTRADO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" y="5742432"/>
            <a:ext cx="9966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Esconder um botão não é controle de acesso: a tela reflete a permissão, mas quem autoriza é o back-end.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950976" cy="274320"/>
          </a:xfrm>
          <a:prstGeom prst="roundRect">
            <a:avLst>
              <a:gd name="adj" fmla="val 20000"/>
            </a:avLst>
          </a:prstGeom>
          <a:solidFill>
            <a:srgbClr val="E6E6EE"/>
          </a:solidFill>
          <a:ln w="12700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493776"/>
            <a:ext cx="7680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40" b="0">
                <a:solidFill>
                  <a:srgbClr val="44454D"/>
                </a:solidFill>
                <a:latin typeface="Aptos"/>
              </a:rPr>
              <a:t>LINKEDIN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835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0">
                <a:solidFill>
                  <a:srgbClr val="24252E"/>
                </a:solidFill>
                <a:latin typeface="Aptos Display"/>
              </a:rPr>
              <a:t>Proposta de postagem profissional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792224"/>
            <a:ext cx="7360920" cy="4334256"/>
          </a:xfrm>
          <a:prstGeom prst="roundRect">
            <a:avLst>
              <a:gd name="adj" fmla="val 1700"/>
            </a:avLst>
          </a:prstGeom>
          <a:noFill/>
          <a:ln w="11430">
            <a:solidFill>
              <a:srgbClr val="C7C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vatar-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048256"/>
            <a:ext cx="566928" cy="566928"/>
          </a:xfrm>
          <a:prstGeom prst="ellipse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38528" y="2029968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24252E"/>
                </a:solidFill>
                <a:latin typeface="Aptos"/>
              </a:rPr>
              <a:t>José Thiago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230428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0">
                <a:solidFill>
                  <a:srgbClr val="777985"/>
                </a:solidFill>
                <a:latin typeface="Aptos"/>
              </a:rPr>
              <a:t>Desenvolvedor Front-end · Clínica-Tech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798064"/>
            <a:ext cx="6693408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10" b="0">
                <a:solidFill>
                  <a:srgbClr val="44454D"/>
                </a:solidFill>
                <a:latin typeface="Aptos"/>
              </a:rPr>
              <a:t>No projeto Clínica-Tech, atuo no Front-end da plataforma web integrada ao WhatsApp. Minha etapa foi transformar os requisitos do produto e os fluxos aprovados em UX/UI em uma estrutura de telas: o que cada perfil vê, quais informações aparecem e quais ações ficam disponíveis.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10" b="0">
                <a:solidFill>
                  <a:srgbClr val="44454D"/>
                </a:solidFill>
                <a:latin typeface="Aptos"/>
              </a:rPr>
              <a:t>A decisão mais importante foi separar o site público, informativo e sem login, do ambiente administrativo, autenticado e sensível ao perfil de quem acessa — e começar pela organização da página, não pela aparência.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10" b="0">
                <a:solidFill>
                  <a:srgbClr val="44454D"/>
                </a:solidFill>
                <a:latin typeface="Aptos"/>
              </a:rPr>
              <a:t>A preocupação que orientou o trabalho foi a acessibilidade. Parte do público da rede é idosa e tem pouca familiaridade digital: rótulo visível em todo campo, navegação por teclado e status indicado por texto, e não apenas por cor.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10" b="0">
                <a:solidFill>
                  <a:srgbClr val="44454D"/>
                </a:solidFill>
                <a:latin typeface="Aptos"/>
              </a:rPr>
              <a:t>Registro também um limite que considero importante: esconder um botão não é controle de acesso. A tela reflete a permissão, mas quem autoriza é o back-end. O sistema ainda está em definição — o que temos é uma base estruturada para que a implementação comece sem improviso.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43584" y="5559552"/>
            <a:ext cx="6711696" cy="0"/>
          </a:xfrm>
          <a:prstGeom prst="rect">
            <a:avLst/>
          </a:prstGeom>
          <a:noFill/>
          <a:ln w="7620">
            <a:solidFill>
              <a:srgbClr val="E6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5669280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>
                <a:solidFill>
                  <a:srgbClr val="777985"/>
                </a:solidFill>
                <a:latin typeface="Aptos"/>
              </a:rPr>
              <a:t>#FrontEnd · #Acessibilidade · #UXUI · #Tecnologia · #Saude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3648" y="1792224"/>
            <a:ext cx="2578608" cy="4334256"/>
          </a:xfrm>
          <a:prstGeom prst="roundRect">
            <a:avLst>
              <a:gd name="adj" fmla="val 2800"/>
            </a:avLst>
          </a:prstGeom>
          <a:noFill/>
          <a:ln w="10160">
            <a:solidFill>
              <a:srgbClr val="C7C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06256" y="210312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4252E"/>
                </a:solidFill>
                <a:latin typeface="Aptos Display"/>
              </a:rPr>
              <a:t>O post contempla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06256" y="2523744"/>
            <a:ext cx="402336" cy="0"/>
          </a:xfrm>
          <a:prstGeom prst="rect">
            <a:avLst/>
          </a:prstGeom>
          <a:noFill/>
          <a:ln w="17780">
            <a:solidFill>
              <a:srgbClr val="2AB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6" y="274320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24252E"/>
                </a:solidFill>
                <a:latin typeface="Aptos"/>
              </a:rPr>
              <a:t>Decisão tomada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6256" y="2962656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44454D"/>
                </a:solidFill>
                <a:latin typeface="Aptos"/>
              </a:rPr>
              <a:t>público e administrativo separados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6256" y="352958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24252E"/>
                </a:solidFill>
                <a:latin typeface="Aptos"/>
              </a:rPr>
              <a:t>Etapa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3749039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44454D"/>
                </a:solidFill>
                <a:latin typeface="Aptos"/>
              </a:rPr>
              <a:t>definição das interfaces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6" y="431596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24252E"/>
                </a:solidFill>
                <a:latin typeface="Aptos"/>
              </a:rPr>
              <a:t>Preocupação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6256" y="4535424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44454D"/>
                </a:solidFill>
                <a:latin typeface="Aptos"/>
              </a:rPr>
              <a:t>acessibilidade desde o início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5102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24252E"/>
                </a:solidFill>
                <a:latin typeface="Aptos"/>
              </a:rPr>
              <a:t>Resultado esperado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5321808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>
                <a:solidFill>
                  <a:srgbClr val="44454D"/>
                </a:solidFill>
                <a:latin typeface="Aptos"/>
              </a:rPr>
              <a:t>base pronta para implementar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327648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19" b="0">
                <a:solidFill>
                  <a:srgbClr val="777985"/>
                </a:solidFill>
                <a:latin typeface="Aptos"/>
              </a:rPr>
              <a:t>Texto completo em 03-frontend/linkedin-frontend.md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949</Words>
  <Application>Microsoft Office PowerPoint</Application>
  <PresentationFormat>Widescreen</PresentationFormat>
  <Paragraphs>184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Clínica-Tech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Clínica-Tech — Apresentação</dc:title>
  <dc:subject>Clínica-Tech — Projeto de Perfil Profissional</dc:subject>
  <dc:creator>Rafael Winicius</dc:creator>
  <cp:lastModifiedBy>rafael winicius</cp:lastModifiedBy>
  <cp:revision>6</cp:revision>
  <dcterms:created xsi:type="dcterms:W3CDTF">2026-09-16T16:48:43Z</dcterms:created>
  <dcterms:modified xsi:type="dcterms:W3CDTF">2026-09-17T01:20:58Z</dcterms:modified>
</cp:coreProperties>
</file>